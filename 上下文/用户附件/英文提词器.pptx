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2030b4912642a9" /><Relationship Type="http://schemas.openxmlformats.org/officeDocument/2006/relationships/extended-properties" Target="/docProps/app.xml" Id="R0989b85a997c4e13" /><Relationship Type="http://schemas.openxmlformats.org/officeDocument/2006/relationships/officeDocument" Target="/ppt/presentation.xml" Id="R11365ba3e08a4c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73eb88078047e7"/>
  </p:sldMasterIdLst>
  <p:notesMasterIdLst>
    <p:notesMasterId xmlns:r="http://schemas.openxmlformats.org/officeDocument/2006/relationships" r:id="R83465a65734a4e10"/>
  </p:notesMasterIdLst>
  <p:sldIdLst>
    <p:sldId xmlns:r="http://schemas.openxmlformats.org/officeDocument/2006/relationships" id="256" r:id="R59e1d47269e74e4a"/>
    <p:sldId xmlns:r="http://schemas.openxmlformats.org/officeDocument/2006/relationships" id="257" r:id="R2c42c347bb774902"/>
    <p:sldId xmlns:r="http://schemas.openxmlformats.org/officeDocument/2006/relationships" id="258" r:id="Rfdfdecb5bccc4b2d"/>
    <p:sldId xmlns:r="http://schemas.openxmlformats.org/officeDocument/2006/relationships" id="259" r:id="R1344d48e84f94244"/>
    <p:sldId xmlns:r="http://schemas.openxmlformats.org/officeDocument/2006/relationships" id="260" r:id="R5d6812987b564bea"/>
    <p:sldId xmlns:r="http://schemas.openxmlformats.org/officeDocument/2006/relationships" id="261" r:id="R3d4f9709f0a148dc"/>
    <p:sldId xmlns:r="http://schemas.openxmlformats.org/officeDocument/2006/relationships" id="262" r:id="R74ee81b63dcc48db"/>
    <p:sldId xmlns:r="http://schemas.openxmlformats.org/officeDocument/2006/relationships" id="263" r:id="R8f5e8115143540e7"/>
    <p:sldId xmlns:r="http://schemas.openxmlformats.org/officeDocument/2006/relationships" id="264" r:id="R3bf00f25701c4e74"/>
    <p:sldId xmlns:r="http://schemas.openxmlformats.org/officeDocument/2006/relationships" id="265" r:id="Raa600fd39ee9452f"/>
    <p:sldId xmlns:r="http://schemas.openxmlformats.org/officeDocument/2006/relationships" id="266" r:id="R8bd2e12040334a48"/>
    <p:sldId xmlns:r="http://schemas.openxmlformats.org/officeDocument/2006/relationships" id="267" r:id="R2af5f32e87dd4abb"/>
    <p:sldId xmlns:r="http://schemas.openxmlformats.org/officeDocument/2006/relationships" id="268" r:id="Rb32e14bc49254ee4"/>
    <p:sldId xmlns:r="http://schemas.openxmlformats.org/officeDocument/2006/relationships" id="269" r:id="R22b4f374bacd454c"/>
    <p:sldId xmlns:r="http://schemas.openxmlformats.org/officeDocument/2006/relationships" id="270" r:id="R036a847b73cf4090"/>
    <p:sldId xmlns:r="http://schemas.openxmlformats.org/officeDocument/2006/relationships" id="271" r:id="R39f969881ab14944"/>
    <p:sldId xmlns:r="http://schemas.openxmlformats.org/officeDocument/2006/relationships" id="272" r:id="Rfecba9addaaa4004"/>
    <p:sldId xmlns:r="http://schemas.openxmlformats.org/officeDocument/2006/relationships" id="273" r:id="Rfff74c1c51fc4004"/>
    <p:sldId xmlns:r="http://schemas.openxmlformats.org/officeDocument/2006/relationships" id="274" r:id="Rf126d5dc05e341df"/>
    <p:sldId xmlns:r="http://schemas.openxmlformats.org/officeDocument/2006/relationships" id="275" r:id="R723d2880f5ee428d"/>
    <p:sldId xmlns:r="http://schemas.openxmlformats.org/officeDocument/2006/relationships" id="276" r:id="R8a7d669ecb224769"/>
    <p:sldId xmlns:r="http://schemas.openxmlformats.org/officeDocument/2006/relationships" id="277" r:id="R802b5665e1e14412"/>
    <p:sldId xmlns:r="http://schemas.openxmlformats.org/officeDocument/2006/relationships" id="278" r:id="Ra283e05804cc4145"/>
    <p:sldId xmlns:r="http://schemas.openxmlformats.org/officeDocument/2006/relationships" id="279" r:id="Re467a5768154410f"/>
    <p:sldId xmlns:r="http://schemas.openxmlformats.org/officeDocument/2006/relationships" id="280" r:id="R58837eb070234e02"/>
    <p:sldId xmlns:r="http://schemas.openxmlformats.org/officeDocument/2006/relationships" id="281" r:id="R191e79634baa495b"/>
    <p:sldId xmlns:r="http://schemas.openxmlformats.org/officeDocument/2006/relationships" id="282" r:id="R03aa79439fe14787"/>
    <p:sldId xmlns:r="http://schemas.openxmlformats.org/officeDocument/2006/relationships" id="283" r:id="Rabd87756340f4341"/>
    <p:sldId xmlns:r="http://schemas.openxmlformats.org/officeDocument/2006/relationships" id="284" r:id="Rab4a63816c294f4e"/>
    <p:sldId xmlns:r="http://schemas.openxmlformats.org/officeDocument/2006/relationships" id="285" r:id="R2ccec8866c2c4044"/>
    <p:sldId xmlns:r="http://schemas.openxmlformats.org/officeDocument/2006/relationships" id="286" r:id="R2c73d8ee8a4449e9"/>
    <p:sldId xmlns:r="http://schemas.openxmlformats.org/officeDocument/2006/relationships" id="287" r:id="Rc2213099c0844846"/>
    <p:sldId xmlns:r="http://schemas.openxmlformats.org/officeDocument/2006/relationships" id="288" r:id="Rf412bcabb24947c6"/>
    <p:sldId xmlns:r="http://schemas.openxmlformats.org/officeDocument/2006/relationships" id="289" r:id="R35721eb8f771450a"/>
    <p:sldId xmlns:r="http://schemas.openxmlformats.org/officeDocument/2006/relationships" id="290" r:id="R571ba4a9c2f44dcf"/>
    <p:sldId xmlns:r="http://schemas.openxmlformats.org/officeDocument/2006/relationships" id="291" r:id="Ra495f8db97a44454"/>
    <p:sldId xmlns:r="http://schemas.openxmlformats.org/officeDocument/2006/relationships" id="292" r:id="R49adfc9febdc4dde"/>
    <p:sldId xmlns:r="http://schemas.openxmlformats.org/officeDocument/2006/relationships" id="293" r:id="R28db67122c724783"/>
    <p:sldId xmlns:r="http://schemas.openxmlformats.org/officeDocument/2006/relationships" id="294" r:id="Rc21fe98e7388478b"/>
    <p:sldId xmlns:r="http://schemas.openxmlformats.org/officeDocument/2006/relationships" id="295" r:id="R7af9edb8807542d6"/>
    <p:sldId xmlns:r="http://schemas.openxmlformats.org/officeDocument/2006/relationships" id="296" r:id="Rd038292f43bd444a"/>
    <p:sldId xmlns:r="http://schemas.openxmlformats.org/officeDocument/2006/relationships" id="297" r:id="Rdb05dcb1fc2c44f8"/>
    <p:sldId xmlns:r="http://schemas.openxmlformats.org/officeDocument/2006/relationships" id="298" r:id="R04e424c244cd4814"/>
    <p:sldId xmlns:r="http://schemas.openxmlformats.org/officeDocument/2006/relationships" id="299" r:id="Rd4273a0884904769"/>
    <p:sldId xmlns:r="http://schemas.openxmlformats.org/officeDocument/2006/relationships" id="300" r:id="R977a44f2548c4e04"/>
    <p:sldId xmlns:r="http://schemas.openxmlformats.org/officeDocument/2006/relationships" id="301" r:id="Re862a474ee45452b"/>
    <p:sldId xmlns:r="http://schemas.openxmlformats.org/officeDocument/2006/relationships" id="302" r:id="Rf73cf53c4382402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418d0f2d66480c" /><Relationship Type="http://schemas.openxmlformats.org/officeDocument/2006/relationships/slideMaster" Target="/ppt/slideMasters/slideMaster1.xml" Id="R0773eb88078047e7" /><Relationship Type="http://schemas.openxmlformats.org/officeDocument/2006/relationships/notesMaster" Target="/ppt/notesMasters/notesMaster1.xml" Id="R83465a65734a4e10" /><Relationship Type="http://schemas.openxmlformats.org/officeDocument/2006/relationships/presProps" Target="/ppt/presProps.xml" Id="R71d13c14a390457e" /><Relationship Type="http://schemas.openxmlformats.org/officeDocument/2006/relationships/viewProps" Target="/ppt/viewProps.xml" Id="Rd8895a6a9e254949" /><Relationship Type="http://schemas.openxmlformats.org/officeDocument/2006/relationships/tableStyles" Target="/ppt/tableStyles.xml" Id="R3ef85cd3e49c401b" /><Relationship Type="http://schemas.openxmlformats.org/officeDocument/2006/relationships/slide" Target="/ppt/slides/slide1.xml" Id="R59e1d47269e74e4a" /><Relationship Type="http://schemas.openxmlformats.org/officeDocument/2006/relationships/slide" Target="/ppt/slides/slide2.xml" Id="R2c42c347bb774902" /><Relationship Type="http://schemas.openxmlformats.org/officeDocument/2006/relationships/slide" Target="/ppt/slides/slide3.xml" Id="Rfdfdecb5bccc4b2d" /><Relationship Type="http://schemas.openxmlformats.org/officeDocument/2006/relationships/slide" Target="/ppt/slides/slide4.xml" Id="R1344d48e84f94244" /><Relationship Type="http://schemas.openxmlformats.org/officeDocument/2006/relationships/slide" Target="/ppt/slides/slide5.xml" Id="R5d6812987b564bea" /><Relationship Type="http://schemas.openxmlformats.org/officeDocument/2006/relationships/slide" Target="/ppt/slides/slide6.xml" Id="R3d4f9709f0a148dc" /><Relationship Type="http://schemas.openxmlformats.org/officeDocument/2006/relationships/slide" Target="/ppt/slides/slide7.xml" Id="R74ee81b63dcc48db" /><Relationship Type="http://schemas.openxmlformats.org/officeDocument/2006/relationships/slide" Target="/ppt/slides/slide8.xml" Id="R8f5e8115143540e7" /><Relationship Type="http://schemas.openxmlformats.org/officeDocument/2006/relationships/slide" Target="/ppt/slides/slide9.xml" Id="R3bf00f25701c4e74" /><Relationship Type="http://schemas.openxmlformats.org/officeDocument/2006/relationships/slide" Target="/ppt/slides/slide10.xml" Id="Raa600fd39ee9452f" /><Relationship Type="http://schemas.openxmlformats.org/officeDocument/2006/relationships/slide" Target="/ppt/slides/slide11.xml" Id="R8bd2e12040334a48" /><Relationship Type="http://schemas.openxmlformats.org/officeDocument/2006/relationships/slide" Target="/ppt/slides/slide12.xml" Id="R2af5f32e87dd4abb" /><Relationship Type="http://schemas.openxmlformats.org/officeDocument/2006/relationships/slide" Target="/ppt/slides/slide13.xml" Id="Rb32e14bc49254ee4" /><Relationship Type="http://schemas.openxmlformats.org/officeDocument/2006/relationships/slide" Target="/ppt/slides/slide14.xml" Id="R22b4f374bacd454c" /><Relationship Type="http://schemas.openxmlformats.org/officeDocument/2006/relationships/slide" Target="/ppt/slides/slide15.xml" Id="R036a847b73cf4090" /><Relationship Type="http://schemas.openxmlformats.org/officeDocument/2006/relationships/slide" Target="/ppt/slides/slide16.xml" Id="R39f969881ab14944" /><Relationship Type="http://schemas.openxmlformats.org/officeDocument/2006/relationships/slide" Target="/ppt/slides/slide17.xml" Id="Rfecba9addaaa4004" /><Relationship Type="http://schemas.openxmlformats.org/officeDocument/2006/relationships/slide" Target="/ppt/slides/slide18.xml" Id="Rfff74c1c51fc4004" /><Relationship Type="http://schemas.openxmlformats.org/officeDocument/2006/relationships/slide" Target="/ppt/slides/slide19.xml" Id="Rf126d5dc05e341df" /><Relationship Type="http://schemas.openxmlformats.org/officeDocument/2006/relationships/slide" Target="/ppt/slides/slide20.xml" Id="R723d2880f5ee428d" /><Relationship Type="http://schemas.openxmlformats.org/officeDocument/2006/relationships/slide" Target="/ppt/slides/slide21.xml" Id="R8a7d669ecb224769" /><Relationship Type="http://schemas.openxmlformats.org/officeDocument/2006/relationships/slide" Target="/ppt/slides/slide22.xml" Id="R802b5665e1e14412" /><Relationship Type="http://schemas.openxmlformats.org/officeDocument/2006/relationships/slide" Target="/ppt/slides/slide23.xml" Id="Ra283e05804cc4145" /><Relationship Type="http://schemas.openxmlformats.org/officeDocument/2006/relationships/slide" Target="/ppt/slides/slide24.xml" Id="Re467a5768154410f" /><Relationship Type="http://schemas.openxmlformats.org/officeDocument/2006/relationships/slide" Target="/ppt/slides/slide25.xml" Id="R58837eb070234e02" /><Relationship Type="http://schemas.openxmlformats.org/officeDocument/2006/relationships/slide" Target="/ppt/slides/slide26.xml" Id="R191e79634baa495b" /><Relationship Type="http://schemas.openxmlformats.org/officeDocument/2006/relationships/slide" Target="/ppt/slides/slide27.xml" Id="R03aa79439fe14787" /><Relationship Type="http://schemas.openxmlformats.org/officeDocument/2006/relationships/slide" Target="/ppt/slides/slide28.xml" Id="Rabd87756340f4341" /><Relationship Type="http://schemas.openxmlformats.org/officeDocument/2006/relationships/slide" Target="/ppt/slides/slide29.xml" Id="Rab4a63816c294f4e" /><Relationship Type="http://schemas.openxmlformats.org/officeDocument/2006/relationships/slide" Target="/ppt/slides/slide30.xml" Id="R2ccec8866c2c4044" /><Relationship Type="http://schemas.openxmlformats.org/officeDocument/2006/relationships/slide" Target="/ppt/slides/slide31.xml" Id="R2c73d8ee8a4449e9" /><Relationship Type="http://schemas.openxmlformats.org/officeDocument/2006/relationships/slide" Target="/ppt/slides/slide32.xml" Id="Rc2213099c0844846" /><Relationship Type="http://schemas.openxmlformats.org/officeDocument/2006/relationships/slide" Target="/ppt/slides/slide33.xml" Id="Rf412bcabb24947c6" /><Relationship Type="http://schemas.openxmlformats.org/officeDocument/2006/relationships/slide" Target="/ppt/slides/slide34.xml" Id="R35721eb8f771450a" /><Relationship Type="http://schemas.openxmlformats.org/officeDocument/2006/relationships/slide" Target="/ppt/slides/slide35.xml" Id="R571ba4a9c2f44dcf" /><Relationship Type="http://schemas.openxmlformats.org/officeDocument/2006/relationships/slide" Target="/ppt/slides/slide36.xml" Id="Ra495f8db97a44454" /><Relationship Type="http://schemas.openxmlformats.org/officeDocument/2006/relationships/slide" Target="/ppt/slides/slide37.xml" Id="R49adfc9febdc4dde" /><Relationship Type="http://schemas.openxmlformats.org/officeDocument/2006/relationships/slide" Target="/ppt/slides/slide38.xml" Id="R28db67122c724783" /><Relationship Type="http://schemas.openxmlformats.org/officeDocument/2006/relationships/slide" Target="/ppt/slides/slide39.xml" Id="Rc21fe98e7388478b" /><Relationship Type="http://schemas.openxmlformats.org/officeDocument/2006/relationships/slide" Target="/ppt/slides/slide40.xml" Id="R7af9edb8807542d6" /><Relationship Type="http://schemas.openxmlformats.org/officeDocument/2006/relationships/slide" Target="/ppt/slides/slide41.xml" Id="Rd038292f43bd444a" /><Relationship Type="http://schemas.openxmlformats.org/officeDocument/2006/relationships/slide" Target="/ppt/slides/slide42.xml" Id="Rdb05dcb1fc2c44f8" /><Relationship Type="http://schemas.openxmlformats.org/officeDocument/2006/relationships/slide" Target="/ppt/slides/slide43.xml" Id="R04e424c244cd4814" /><Relationship Type="http://schemas.openxmlformats.org/officeDocument/2006/relationships/slide" Target="/ppt/slides/slide44.xml" Id="Rd4273a0884904769" /><Relationship Type="http://schemas.openxmlformats.org/officeDocument/2006/relationships/slide" Target="/ppt/slides/slide45.xml" Id="R977a44f2548c4e04" /><Relationship Type="http://schemas.openxmlformats.org/officeDocument/2006/relationships/slide" Target="/ppt/slides/slide46.xml" Id="Re862a474ee45452b" /><Relationship Type="http://schemas.openxmlformats.org/officeDocument/2006/relationships/slide" Target="/ppt/slides/slide47.xml" Id="Rf73cf53c438240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daed30629149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6dc9d08eaa44b3" /><Relationship Type="http://schemas.openxmlformats.org/officeDocument/2006/relationships/notesMaster" Target="/ppt/notesMasters/notesMaster1.xml" Id="R9de3a8a6ae7b4b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8ec51217a44dc1" /><Relationship Type="http://schemas.openxmlformats.org/officeDocument/2006/relationships/notesMaster" Target="/ppt/notesMasters/notesMaster1.xml" Id="R7b1a7ac533f646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a411e010bf4609" /><Relationship Type="http://schemas.openxmlformats.org/officeDocument/2006/relationships/notesMaster" Target="/ppt/notesMasters/notesMaster1.xml" Id="R235314906cb74c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76eec5344443fb" /><Relationship Type="http://schemas.openxmlformats.org/officeDocument/2006/relationships/notesMaster" Target="/ppt/notesMasters/notesMaster1.xml" Id="R1dedfaaeb6af48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b6e71e40144260" /><Relationship Type="http://schemas.openxmlformats.org/officeDocument/2006/relationships/notesMaster" Target="/ppt/notesMasters/notesMaster1.xml" Id="R5bb0d2181edf4c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ecfb1ceea440a4" /><Relationship Type="http://schemas.openxmlformats.org/officeDocument/2006/relationships/notesMaster" Target="/ppt/notesMasters/notesMaster1.xml" Id="R33c0cec00b0a4d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efb4c526804b09" /><Relationship Type="http://schemas.openxmlformats.org/officeDocument/2006/relationships/notesMaster" Target="/ppt/notesMasters/notesMaster1.xml" Id="R574820267f2f44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52acaf8b694e7b" /><Relationship Type="http://schemas.openxmlformats.org/officeDocument/2006/relationships/notesMaster" Target="/ppt/notesMasters/notesMaster1.xml" Id="Ra6448895ad0d45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4fa5769beb4e57" /><Relationship Type="http://schemas.openxmlformats.org/officeDocument/2006/relationships/notesMaster" Target="/ppt/notesMasters/notesMaster1.xml" Id="R1816f8dd51b740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a9801721864840" /><Relationship Type="http://schemas.openxmlformats.org/officeDocument/2006/relationships/notesMaster" Target="/ppt/notesMasters/notesMaster1.xml" Id="R779563353e2148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2b93c8c37d42ce" /><Relationship Type="http://schemas.openxmlformats.org/officeDocument/2006/relationships/notesMaster" Target="/ppt/notesMasters/notesMaster1.xml" Id="R3b03603308f547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095778086f4f9a" /><Relationship Type="http://schemas.openxmlformats.org/officeDocument/2006/relationships/notesMaster" Target="/ppt/notesMasters/notesMaster1.xml" Id="R7d6281fc19ec47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3bf65e0eab4ba7" /><Relationship Type="http://schemas.openxmlformats.org/officeDocument/2006/relationships/notesMaster" Target="/ppt/notesMasters/notesMaster1.xml" Id="Rdcc0d7e878da46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b3f587f0924e1e" /><Relationship Type="http://schemas.openxmlformats.org/officeDocument/2006/relationships/notesMaster" Target="/ppt/notesMasters/notesMaster1.xml" Id="R1555a1d7154146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c10240cc064e3e" /><Relationship Type="http://schemas.openxmlformats.org/officeDocument/2006/relationships/notesMaster" Target="/ppt/notesMasters/notesMaster1.xml" Id="R500d3ea30d5542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c95f619f044c6c" /><Relationship Type="http://schemas.openxmlformats.org/officeDocument/2006/relationships/notesMaster" Target="/ppt/notesMasters/notesMaster1.xml" Id="R8d3ba21e92a846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74c2de59c943f2" /><Relationship Type="http://schemas.openxmlformats.org/officeDocument/2006/relationships/notesMaster" Target="/ppt/notesMasters/notesMaster1.xml" Id="Re563dfb815aa4c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59557085084d66" /><Relationship Type="http://schemas.openxmlformats.org/officeDocument/2006/relationships/notesMaster" Target="/ppt/notesMasters/notesMaster1.xml" Id="Rd458dc5c14f649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c685f01d941492f" /><Relationship Type="http://schemas.openxmlformats.org/officeDocument/2006/relationships/notesMaster" Target="/ppt/notesMasters/notesMaster1.xml" Id="Rfaeb2a4f92db4ce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cb34424dc444790" /><Relationship Type="http://schemas.openxmlformats.org/officeDocument/2006/relationships/notesMaster" Target="/ppt/notesMasters/notesMaster1.xml" Id="R08c55c11a96d4ba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ad271edcfee42bf" /><Relationship Type="http://schemas.openxmlformats.org/officeDocument/2006/relationships/notesMaster" Target="/ppt/notesMasters/notesMaster1.xml" Id="R35c53ddc136443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d26065dbcfe4e24" /><Relationship Type="http://schemas.openxmlformats.org/officeDocument/2006/relationships/notesMaster" Target="/ppt/notesMasters/notesMaster1.xml" Id="Re5abe2f7a0dd4c6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6261b0c92d4318" /><Relationship Type="http://schemas.openxmlformats.org/officeDocument/2006/relationships/notesMaster" Target="/ppt/notesMasters/notesMaster1.xml" Id="Rb9c3ce0186ca430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a9cce91946413e" /><Relationship Type="http://schemas.openxmlformats.org/officeDocument/2006/relationships/notesMaster" Target="/ppt/notesMasters/notesMaster1.xml" Id="R6c31efaf5f124c0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11527d13eef4b54" /><Relationship Type="http://schemas.openxmlformats.org/officeDocument/2006/relationships/notesMaster" Target="/ppt/notesMasters/notesMaster1.xml" Id="Rfb41bf606ee7451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8d1e3ca07848b7" /><Relationship Type="http://schemas.openxmlformats.org/officeDocument/2006/relationships/notesMaster" Target="/ppt/notesMasters/notesMaster1.xml" Id="R138c23616eeb4f2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9588cb9325c416f" /><Relationship Type="http://schemas.openxmlformats.org/officeDocument/2006/relationships/notesMaster" Target="/ppt/notesMasters/notesMaster1.xml" Id="R6cf487cf504d4a0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1d898f2d8f44625" /><Relationship Type="http://schemas.openxmlformats.org/officeDocument/2006/relationships/notesMaster" Target="/ppt/notesMasters/notesMaster1.xml" Id="R92bfc7b48d444d0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24d1484569c4ec6" /><Relationship Type="http://schemas.openxmlformats.org/officeDocument/2006/relationships/notesMaster" Target="/ppt/notesMasters/notesMaster1.xml" Id="Rea36d166d589443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d17d811d4b2436c" /><Relationship Type="http://schemas.openxmlformats.org/officeDocument/2006/relationships/notesMaster" Target="/ppt/notesMasters/notesMaster1.xml" Id="Rb320f716642b4b7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07a1d8245624c61" /><Relationship Type="http://schemas.openxmlformats.org/officeDocument/2006/relationships/notesMaster" Target="/ppt/notesMasters/notesMaster1.xml" Id="R09a4f7b1007847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97da1169b474a3b" /><Relationship Type="http://schemas.openxmlformats.org/officeDocument/2006/relationships/notesMaster" Target="/ppt/notesMasters/notesMaster1.xml" Id="R2f1ff14fe4b64d6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47a397066ff4614" /><Relationship Type="http://schemas.openxmlformats.org/officeDocument/2006/relationships/notesMaster" Target="/ppt/notesMasters/notesMaster1.xml" Id="R116264630e0146b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dc1b514202d4fc2" /><Relationship Type="http://schemas.openxmlformats.org/officeDocument/2006/relationships/notesMaster" Target="/ppt/notesMasters/notesMaster1.xml" Id="Rff18ae03eeff457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c111a7bfb384077" /><Relationship Type="http://schemas.openxmlformats.org/officeDocument/2006/relationships/notesMaster" Target="/ppt/notesMasters/notesMaster1.xml" Id="R5f7174d9b7b2452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23f56e052444f0e" /><Relationship Type="http://schemas.openxmlformats.org/officeDocument/2006/relationships/notesMaster" Target="/ppt/notesMasters/notesMaster1.xml" Id="Rcd62b0c26a9a487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1b05aba5d824a1b" /><Relationship Type="http://schemas.openxmlformats.org/officeDocument/2006/relationships/notesMaster" Target="/ppt/notesMasters/notesMaster1.xml" Id="R49649a94b7cf467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2a8db27035a4a7a" /><Relationship Type="http://schemas.openxmlformats.org/officeDocument/2006/relationships/notesMaster" Target="/ppt/notesMasters/notesMaster1.xml" Id="R8354e87ce2024be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54d1743cc7f4598" /><Relationship Type="http://schemas.openxmlformats.org/officeDocument/2006/relationships/notesMaster" Target="/ppt/notesMasters/notesMaster1.xml" Id="Rc5b659c2b60d4c0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530c2cac8964bb2" /><Relationship Type="http://schemas.openxmlformats.org/officeDocument/2006/relationships/notesMaster" Target="/ppt/notesMasters/notesMaster1.xml" Id="Rf53c3ee9cddb406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ff0437e72da41fc" /><Relationship Type="http://schemas.openxmlformats.org/officeDocument/2006/relationships/notesMaster" Target="/ppt/notesMasters/notesMaster1.xml" Id="Ra483df7357d8437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eef917742aa49cb" /><Relationship Type="http://schemas.openxmlformats.org/officeDocument/2006/relationships/notesMaster" Target="/ppt/notesMasters/notesMaster1.xml" Id="Rd5bf8ac5717a485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9d833c6c5434787" /><Relationship Type="http://schemas.openxmlformats.org/officeDocument/2006/relationships/notesMaster" Target="/ppt/notesMasters/notesMaster1.xml" Id="R80eeaaa7da61481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54f6e824037419f" /><Relationship Type="http://schemas.openxmlformats.org/officeDocument/2006/relationships/notesMaster" Target="/ppt/notesMasters/notesMaster1.xml" Id="R8dd5339a0a3b41a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39e035769dd499c" /><Relationship Type="http://schemas.openxmlformats.org/officeDocument/2006/relationships/notesMaster" Target="/ppt/notesMasters/notesMaster1.xml" Id="R8078885e6e08449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f8c151127a0403d" /><Relationship Type="http://schemas.openxmlformats.org/officeDocument/2006/relationships/notesMaster" Target="/ppt/notesMasters/notesMaster1.xml" Id="Rb812671b30654c5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7d47bc81a4c4e7e" /><Relationship Type="http://schemas.openxmlformats.org/officeDocument/2006/relationships/notesMaster" Target="/ppt/notesMasters/notesMaster1.xml" Id="Rdc3d7e6665f542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1, prompt page 1/1.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Good afternoon, everyone. I’m very</a:t>
            </a:r>
            <a:endParaRPr/>
          </a:p>
          <a:p xmlns:a="http://schemas.openxmlformats.org/drawingml/2006/main">
            <a:r>
              <a:t>happy to be here today to share our latest</a:t>
            </a:r>
            <a:endParaRPr/>
          </a:p>
          <a:p xmlns:a="http://schemas.openxmlformats.org/drawingml/2006/main">
            <a:r>
              <a:t>progress.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2, prompt page 1/3.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Speech foundation models have become</a:t>
            </a:r>
            <a:endParaRPr/>
          </a:p>
          <a:p xmlns:a="http://schemas.openxmlformats.org/drawingml/2006/main">
            <a:r>
              <a:t>more powerful in recent years. They are</a:t>
            </a:r>
            <a:endParaRPr/>
          </a:p>
          <a:p xmlns:a="http://schemas.openxmlformats.org/drawingml/2006/main">
            <a:r>
              <a:t>also improving faster than ever. Since</a:t>
            </a:r>
            <a:endParaRPr/>
          </a:p>
          <a:p xmlns:a="http://schemas.openxmlformats.org/drawingml/2006/main">
            <a:r>
              <a:t>2024, we have seen more and more</a:t>
            </a:r>
            <a:endParaRPr/>
          </a:p>
          <a:p xmlns:a="http://schemas.openxmlformats.org/drawingml/2006/main">
            <a:r>
              <a:t>progress in speech technology across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2, prompt page 2/3.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the industry. We have also continued to</a:t>
            </a:r>
            <a:endParaRPr/>
          </a:p>
          <a:p xmlns:a="http://schemas.openxmlformats.org/drawingml/2006/main">
            <a:r>
              <a:t>release new models and contribute to</a:t>
            </a:r>
            <a:endParaRPr/>
          </a:p>
          <a:p xmlns:a="http://schemas.openxmlformats.org/drawingml/2006/main">
            <a:r>
              <a:t>these changes.</a:t>
            </a:r>
            <a:endParaRPr/>
          </a:p>
          <a:p xmlns:a="http://schemas.openxmlformats.org/drawingml/2006/main">
            <a:r>
              <a:t>Today, we are introducing</a:t>
            </a:r>
            <a:endParaRPr/>
          </a:p>
          <a:p xmlns:a="http://schemas.openxmlformats.org/drawingml/2006/main">
            <a:r>
              <a:t>Qwen-Audio-3.1. We have upgraded all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2, prompt page 3/3.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three model families. ASR takes us from</a:t>
            </a:r>
            <a:endParaRPr/>
          </a:p>
          <a:p xmlns:a="http://schemas.openxmlformats.org/drawingml/2006/main">
            <a:r>
              <a:t>transcription to understanding. TTS takes</a:t>
            </a:r>
            <a:endParaRPr/>
          </a:p>
          <a:p xmlns:a="http://schemas.openxmlformats.org/drawingml/2006/main">
            <a:r>
              <a:t>us from text to full soundscape</a:t>
            </a:r>
            <a:endParaRPr/>
          </a:p>
          <a:p xmlns:a="http://schemas.openxmlformats.org/drawingml/2006/main">
            <a:r>
              <a:t>generation. And Realtime brings us</a:t>
            </a:r>
            <a:endParaRPr/>
          </a:p>
          <a:p xmlns:a="http://schemas.openxmlformats.org/drawingml/2006/main">
            <a:r>
              <a:t>full-duplex voice conversations.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3, prompt page 1/1.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Let’s start with ASR.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4, prompt page 1/2.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With a unified audio understanding</a:t>
            </a:r>
            <a:endParaRPr/>
          </a:p>
          <a:p xmlns:a="http://schemas.openxmlformats.org/drawingml/2006/main">
            <a:r>
              <a:t>architecture, we have improved</a:t>
            </a:r>
            <a:endParaRPr/>
          </a:p>
          <a:p xmlns:a="http://schemas.openxmlformats.org/drawingml/2006/main">
            <a:r>
              <a:t>transcription accuracy. The model can</a:t>
            </a:r>
            <a:endParaRPr/>
          </a:p>
          <a:p xmlns:a="http://schemas.openxmlformats.org/drawingml/2006/main">
            <a:r>
              <a:t>also identify different speakers and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4, prompt page 2/2.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organize the transcript by speaker. The</a:t>
            </a:r>
            <a:endParaRPr/>
          </a:p>
          <a:p xmlns:a="http://schemas.openxmlformats.org/drawingml/2006/main">
            <a:r>
              <a:t>same model can locate sound events in</a:t>
            </a:r>
            <a:endParaRPr/>
          </a:p>
          <a:p xmlns:a="http://schemas.openxmlformats.org/drawingml/2006/main">
            <a:r>
              <a:t>audio and answer questions about what it</a:t>
            </a:r>
            <a:endParaRPr/>
          </a:p>
          <a:p xmlns:a="http://schemas.openxmlformats.org/drawingml/2006/main">
            <a:r>
              <a:t>hears.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5, prompt page 1/4.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[Play the first audio]</a:t>
            </a:r>
            <a:endParaRPr/>
          </a:p>
          <a:p xmlns:a="http://schemas.openxmlformats.org/drawingml/2006/main">
            <a:r>
              <a:t>First, Audio Caption describes the scene</a:t>
            </a:r>
            <a:endParaRPr/>
          </a:p>
          <a:p xmlns:a="http://schemas.openxmlformats.org/drawingml/2006/main">
            <a:r>
              <a:t>and the main sounds, such as chewing</a:t>
            </a:r>
            <a:endParaRPr/>
          </a:p>
          <a:p xmlns:a="http://schemas.openxmlformats.org/drawingml/2006/main">
            <a:r>
              <a:t>and crunching.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5, prompt page 2/4.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[Play the second audio]</a:t>
            </a:r>
            <a:endParaRPr/>
          </a:p>
          <a:p xmlns:a="http://schemas.openxmlformats.org/drawingml/2006/main">
            <a:r>
              <a:t>Second, Audio Grounding finds when a</a:t>
            </a:r>
            <a:endParaRPr/>
          </a:p>
          <a:p xmlns:a="http://schemas.openxmlformats.org/drawingml/2006/main">
            <a:r>
              <a:t>sound event happens in the audio.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5, prompt page 3/4.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[Play the third audio]</a:t>
            </a:r>
            <a:endParaRPr/>
          </a:p>
          <a:p xmlns:a="http://schemas.openxmlformats.org/drawingml/2006/main">
            <a:r>
              <a:t>Third, Audio QA answers questions</a:t>
            </a:r>
            <a:endParaRPr/>
          </a:p>
          <a:p xmlns:a="http://schemas.openxmlformats.org/drawingml/2006/main">
            <a:r>
              <a:t>about the audio. Here, the model</a:t>
            </a:r>
            <a:endParaRPr/>
          </a:p>
          <a:p xmlns:a="http://schemas.openxmlformats.org/drawingml/2006/main">
            <a:r>
              <a:t>identifies two different motor speeds after</a:t>
            </a:r>
            <a:endParaRPr/>
          </a:p>
          <a:p xmlns:a="http://schemas.openxmlformats.org/drawingml/2006/main">
            <a:r>
              <a:t>the inhalation sound.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5, prompt page 4/4.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These examples show how the model</a:t>
            </a:r>
            <a:endParaRPr/>
          </a:p>
          <a:p xmlns:a="http://schemas.openxmlformats.org/drawingml/2006/main">
            <a:r>
              <a:t>moves from recognizing speech to</a:t>
            </a:r>
            <a:endParaRPr/>
          </a:p>
          <a:p xmlns:a="http://schemas.openxmlformats.org/drawingml/2006/main">
            <a:r>
              <a:t>understanding sound events, their</a:t>
            </a:r>
            <a:endParaRPr/>
          </a:p>
          <a:p xmlns:a="http://schemas.openxmlformats.org/drawingml/2006/main">
            <a:r>
              <a:t>timing, and the relationships between</a:t>
            </a:r>
            <a:endParaRPr/>
          </a:p>
          <a:p xmlns:a="http://schemas.openxmlformats.org/drawingml/2006/main">
            <a:r>
              <a:t>them.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6, prompt page 1/3.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Here, we use a real conversation at a</a:t>
            </a:r>
            <a:endParaRPr/>
          </a:p>
          <a:p xmlns:a="http://schemas.openxmlformats.org/drawingml/2006/main">
            <a:r>
              <a:t>coffee shop to show how it works.</a:t>
            </a:r>
            <a:endParaRPr/>
          </a:p>
          <a:p xmlns:a="http://schemas.openxmlformats.org/drawingml/2006/main">
            <a:r>
              <a:t>The new ASR model aims to write down</a:t>
            </a:r>
            <a:endParaRPr/>
          </a:p>
          <a:p xmlns:a="http://schemas.openxmlformats.org/drawingml/2006/main">
            <a:r>
              <a:t>exactly what people say. It also adds</a:t>
            </a:r>
            <a:endParaRPr/>
          </a:p>
          <a:p xmlns:a="http://schemas.openxmlformats.org/drawingml/2006/main">
            <a:r>
              <a:t>complete punctuation, without missing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6, prompt page 2/3.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periods or commas. It can answer</a:t>
            </a:r>
            <a:endParaRPr/>
          </a:p>
          <a:p xmlns:a="http://schemas.openxmlformats.org/drawingml/2006/main">
            <a:r>
              <a:t>questions that bring together information</a:t>
            </a:r>
            <a:endParaRPr/>
          </a:p>
          <a:p xmlns:a="http://schemas.openxmlformats.org/drawingml/2006/main">
            <a:r>
              <a:t>from different speakers and different</a:t>
            </a:r>
            <a:endParaRPr/>
          </a:p>
          <a:p xmlns:a="http://schemas.openxmlformats.org/drawingml/2006/main">
            <a:r>
              <a:t>points in the conversation.</a:t>
            </a:r>
            <a:endParaRPr/>
          </a:p>
          <a:p xmlns:a="http://schemas.openxmlformats.org/drawingml/2006/main">
            <a:r>
              <a:t>The new model handles many challenges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6, prompt page 3/3.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in real-world use. These include</a:t>
            </a:r>
            <a:endParaRPr/>
          </a:p>
          <a:p xmlns:a="http://schemas.openxmlformats.org/drawingml/2006/main">
            <a:r>
              <a:t>identifying speakers, making better use</a:t>
            </a:r>
            <a:endParaRPr/>
          </a:p>
          <a:p xmlns:a="http://schemas.openxmlformats.org/drawingml/2006/main">
            <a:r>
              <a:t>of hotwords, and supporting more</a:t>
            </a:r>
            <a:endParaRPr/>
          </a:p>
          <a:p xmlns:a="http://schemas.openxmlformats.org/drawingml/2006/main">
            <a:r>
              <a:t>dialects.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7, prompt page 1/1.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These are the main capabilities of</a:t>
            </a:r>
            <a:endParaRPr/>
          </a:p>
          <a:p xmlns:a="http://schemas.openxmlformats.org/drawingml/2006/main">
            <a:r>
              <a:t>Qwen-Audio-3.1-ASR. Now let’s look at</a:t>
            </a:r>
            <a:endParaRPr/>
          </a:p>
          <a:p xmlns:a="http://schemas.openxmlformats.org/drawingml/2006/main">
            <a:r>
              <a:t>how it performs. The results on these</a:t>
            </a:r>
            <a:endParaRPr/>
          </a:p>
          <a:p xmlns:a="http://schemas.openxmlformats.org/drawingml/2006/main">
            <a:r>
              <a:t>major benchmarks show that our model</a:t>
            </a:r>
            <a:endParaRPr/>
          </a:p>
          <a:p xmlns:a="http://schemas.openxmlformats.org/drawingml/2006/main">
            <a:r>
              <a:t>remains among the leading ASR models</a:t>
            </a:r>
            <a:endParaRPr/>
          </a:p>
          <a:p xmlns:a="http://schemas.openxmlformats.org/drawingml/2006/main">
            <a:r>
              <a:t>in the industry.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8, prompt page 1/2.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To make a good ASR model work well in</a:t>
            </a:r>
            <a:endParaRPr/>
          </a:p>
          <a:p xmlns:a="http://schemas.openxmlformats.org/drawingml/2006/main">
            <a:r>
              <a:t>practice, we also need a supporting</a:t>
            </a:r>
            <a:endParaRPr/>
          </a:p>
          <a:p xmlns:a="http://schemas.openxmlformats.org/drawingml/2006/main">
            <a:r>
              <a:t>framework, or Harness. Here is an</a:t>
            </a:r>
            <a:endParaRPr/>
          </a:p>
          <a:p xmlns:a="http://schemas.openxmlformats.org/drawingml/2006/main">
            <a:r>
              <a:t>example.</a:t>
            </a:r>
            <a:endParaRPr/>
          </a:p>
          <a:p xmlns:a="http://schemas.openxmlformats.org/drawingml/2006/main">
            <a:r>
              <a:t>Before recognition, we need to split the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8, prompt page 2/2.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audio into segments. We may also need</a:t>
            </a:r>
            <a:endParaRPr/>
          </a:p>
          <a:p xmlns:a="http://schemas.openxmlformats.org/drawingml/2006/main">
            <a:r>
              <a:t>to collect relevant context and hotwords.</a:t>
            </a:r>
            <a:endParaRPr/>
          </a:p>
          <a:p xmlns:a="http://schemas.openxmlformats.org/drawingml/2006/main">
            <a:r>
              <a:t>After recognition, we may need to</a:t>
            </a:r>
            <a:endParaRPr/>
          </a:p>
          <a:p xmlns:a="http://schemas.openxmlformats.org/drawingml/2006/main">
            <a:r>
              <a:t>process the results further. These steps</a:t>
            </a:r>
            <a:endParaRPr/>
          </a:p>
          <a:p xmlns:a="http://schemas.openxmlformats.org/drawingml/2006/main">
            <a:r>
              <a:t>help users get the most out of the model.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9, prompt page 1/2.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ASR has many practical uses. It helps us</a:t>
            </a:r>
            <a:endParaRPr/>
          </a:p>
          <a:p xmlns:a="http://schemas.openxmlformats.org/drawingml/2006/main">
            <a:r>
              <a:t>capture information from everyday</a:t>
            </a:r>
            <a:endParaRPr/>
          </a:p>
          <a:p xmlns:a="http://schemas.openxmlformats.org/drawingml/2006/main">
            <a:r>
              <a:t>conversations. This gives AI models</a:t>
            </a:r>
            <a:endParaRPr/>
          </a:p>
          <a:p xmlns:a="http://schemas.openxmlformats.org/drawingml/2006/main">
            <a:r>
              <a:t>useful context for later tasks.</a:t>
            </a:r>
            <a:endParaRPr/>
          </a:p>
          <a:p xmlns:a="http://schemas.openxmlformats.org/drawingml/2006/main">
            <a:r>
              <a:t>Here are two examples. The first is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9, prompt page 2/2.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meeting notes, with products such as</a:t>
            </a:r>
            <a:endParaRPr/>
          </a:p>
          <a:p xmlns:a="http://schemas.openxmlformats.org/drawingml/2006/main">
            <a:r>
              <a:t>Talk and the recently released QwenNote</a:t>
            </a:r>
            <a:endParaRPr/>
          </a:p>
          <a:p xmlns:a="http://schemas.openxmlformats.org/drawingml/2006/main">
            <a:r>
              <a:t>A2 device. The second is voice input,</a:t>
            </a:r>
            <a:endParaRPr/>
          </a:p>
          <a:p xmlns:a="http://schemas.openxmlformats.org/drawingml/2006/main">
            <a:r>
              <a:t>including DingTalk voice IME and Qwen</a:t>
            </a:r>
            <a:endParaRPr/>
          </a:p>
          <a:p xmlns:a="http://schemas.openxmlformats.org/drawingml/2006/main">
            <a:r>
              <a:t>voice IME.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10, prompt page 1/2.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Voice input has now moved beyond</a:t>
            </a:r>
            <a:endParaRPr/>
          </a:p>
          <a:p xmlns:a="http://schemas.openxmlformats.org/drawingml/2006/main">
            <a:r>
              <a:t>simply turning speech into text. Users</a:t>
            </a:r>
            <a:endParaRPr/>
          </a:p>
          <a:p xmlns:a="http://schemas.openxmlformats.org/drawingml/2006/main">
            <a:r>
              <a:t>want to speak naturally and get a clear,</a:t>
            </a:r>
            <a:endParaRPr/>
          </a:p>
          <a:p xmlns:a="http://schemas.openxmlformats.org/drawingml/2006/main">
            <a:r>
              <a:t>well-organized piece of writing.</a:t>
            </a:r>
            <a:endParaRPr/>
          </a:p>
          <a:p xmlns:a="http://schemas.openxmlformats.org/drawingml/2006/main">
            <a:r>
              <a:t>As the technology becomes easier to use,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10, prompt page 2/2.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more people are choosing to use it. We</a:t>
            </a:r>
            <a:endParaRPr/>
          </a:p>
          <a:p xmlns:a="http://schemas.openxmlformats.org/drawingml/2006/main">
            <a:r>
              <a:t>have seen strong growth in organic</a:t>
            </a:r>
            <a:endParaRPr/>
          </a:p>
          <a:p xmlns:a="http://schemas.openxmlformats.org/drawingml/2006/main">
            <a:r>
              <a:t>usage of DingTalk IME, Qwen IME, and</a:t>
            </a:r>
            <a:endParaRPr/>
          </a:p>
          <a:p xmlns:a="http://schemas.openxmlformats.org/drawingml/2006/main">
            <a:r>
              <a:t>DingTalk as a whole.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11, prompt page 1/1.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Next is our second model:</a:t>
            </a:r>
            <a:endParaRPr/>
          </a:p>
          <a:p xmlns:a="http://schemas.openxmlformats.org/drawingml/2006/main">
            <a:r>
              <a:t>Qwen-Audio-3.1-TTS.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12, prompt page 1/2.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Our latest TTS model supports more</a:t>
            </a:r>
            <a:endParaRPr/>
          </a:p>
          <a:p xmlns:a="http://schemas.openxmlformats.org/drawingml/2006/main">
            <a:r>
              <a:t>dialects, more fine-grained speech labels,</a:t>
            </a:r>
            <a:endParaRPr/>
          </a:p>
          <a:p xmlns:a="http://schemas.openxmlformats.org/drawingml/2006/main">
            <a:r>
              <a:t>and more voices. We have also improved</a:t>
            </a:r>
            <a:endParaRPr/>
          </a:p>
          <a:p xmlns:a="http://schemas.openxmlformats.org/drawingml/2006/main">
            <a:r>
              <a:t>the output quality.</a:t>
            </a:r>
            <a:endParaRPr/>
          </a:p>
          <a:p xmlns:a="http://schemas.openxmlformats.org/drawingml/2006/main">
            <a:r>
              <a:t>Here, we show welcome messages in</a:t>
            </a:r>
            <a:endParaRPr/>
          </a:p>
          <a:p xmlns:a="http://schemas.openxmlformats.org/drawingml/2006/main">
            <a:r>
              <a:t>several languages and dialects, including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12, prompt page 2/2.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Mandarin, Cantonese, English, and</a:t>
            </a:r>
            <a:endParaRPr/>
          </a:p>
          <a:p xmlns:a="http://schemas.openxmlformats.org/drawingml/2006/main">
            <a:r>
              <a:t>Japanese.</a:t>
            </a:r>
            <a:endParaRPr/>
          </a:p>
          <a:p xmlns:a="http://schemas.openxmlformats.org/drawingml/2006/main">
            <a:r>
              <a:t>We believe the next step for TTS goes</a:t>
            </a:r>
            <a:endParaRPr/>
          </a:p>
          <a:p xmlns:a="http://schemas.openxmlformats.org/drawingml/2006/main">
            <a:r>
              <a:t>beyond speech. It is about generating a</a:t>
            </a:r>
            <a:endParaRPr/>
          </a:p>
          <a:p xmlns:a="http://schemas.openxmlformats.org/drawingml/2006/main">
            <a:r>
              <a:t>complete soundscape.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13, prompt page 1/1.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We have also recently evaluated our TTS</a:t>
            </a:r>
            <a:endParaRPr/>
          </a:p>
          <a:p xmlns:a="http://schemas.openxmlformats.org/drawingml/2006/main">
            <a:r>
              <a:t>model. It ranks among the top models on</a:t>
            </a:r>
            <a:endParaRPr/>
          </a:p>
          <a:p xmlns:a="http://schemas.openxmlformats.org/drawingml/2006/main">
            <a:r>
              <a:t>both Hugging Face TTS Arena and</a:t>
            </a:r>
            <a:endParaRPr/>
          </a:p>
          <a:p xmlns:a="http://schemas.openxmlformats.org/drawingml/2006/main">
            <a:r>
              <a:t>Artificial Analysis TTS Arena. On Hugging</a:t>
            </a:r>
            <a:endParaRPr/>
          </a:p>
          <a:p xmlns:a="http://schemas.openxmlformats.org/drawingml/2006/main">
            <a:r>
              <a:t>Face, the model listed as Aurora is our</a:t>
            </a:r>
            <a:endParaRPr/>
          </a:p>
          <a:p xmlns:a="http://schemas.openxmlformats.org/drawingml/2006/main">
            <a:r>
              <a:t>Qwen-Audio-3.1-TTS.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14, prompt page 1/4.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Like ASR, TTS also needs a Harness for</a:t>
            </a:r>
            <a:endParaRPr/>
          </a:p>
          <a:p xmlns:a="http://schemas.openxmlformats.org/drawingml/2006/main">
            <a:r>
              <a:t>real-world use. This framework has three</a:t>
            </a:r>
            <a:endParaRPr/>
          </a:p>
          <a:p xmlns:a="http://schemas.openxmlformats.org/drawingml/2006/main">
            <a:r>
              <a:t>layers.</a:t>
            </a:r>
            <a:endParaRPr/>
          </a:p>
          <a:p xmlns:a="http://schemas.openxmlformats.org/drawingml/2006/main">
            <a:r>
              <a:t>At the top, users create audio from</a:t>
            </a:r>
            <a:endParaRPr/>
          </a:p>
          <a:p xmlns:a="http://schemas.openxmlformats.org/drawingml/2006/main">
            <a:r>
              <a:t>articles, books, podcasts, or videos. They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14, prompt page 2/4.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can listen to the results and ask for</a:t>
            </a:r>
            <a:endParaRPr/>
          </a:p>
          <a:p xmlns:a="http://schemas.openxmlformats.org/drawingml/2006/main">
            <a:r>
              <a:t>changes. In the middle, the Harness plans</a:t>
            </a:r>
            <a:endParaRPr/>
          </a:p>
          <a:p xmlns:a="http://schemas.openxmlformats.org/drawingml/2006/main">
            <a:r>
              <a:t>each segment, including the speaker,</a:t>
            </a:r>
            <a:endParaRPr/>
          </a:p>
          <a:p xmlns:a="http://schemas.openxmlformats.org/drawingml/2006/main">
            <a:r>
              <a:t>pronunciation, and timing. It also tracks</a:t>
            </a:r>
            <a:endParaRPr/>
          </a:p>
          <a:p xmlns:a="http://schemas.openxmlformats.org/drawingml/2006/main">
            <a:r>
              <a:t>the audio and versions. At the bottom,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14, prompt page 3/4.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models and tools handle speech</a:t>
            </a:r>
            <a:endParaRPr/>
          </a:p>
          <a:p xmlns:a="http://schemas.openxmlformats.org/drawingml/2006/main">
            <a:r>
              <a:t>generation, recognition, translation, and</a:t>
            </a:r>
            <a:endParaRPr/>
          </a:p>
          <a:p xmlns:a="http://schemas.openxmlformats.org/drawingml/2006/main">
            <a:r>
              <a:t>audio editing.</a:t>
            </a:r>
            <a:endParaRPr/>
          </a:p>
          <a:p xmlns:a="http://schemas.openxmlformats.org/drawingml/2006/main">
            <a:r>
              <a:t>When users request a change, the</a:t>
            </a:r>
            <a:endParaRPr/>
          </a:p>
          <a:p xmlns:a="http://schemas.openxmlformats.org/drawingml/2006/main">
            <a:r>
              <a:t>framework updates the affected segments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14, prompt page 4/4.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and reuses the rest. We are continuing to</a:t>
            </a:r>
            <a:endParaRPr/>
          </a:p>
          <a:p xmlns:a="http://schemas.openxmlformats.org/drawingml/2006/main">
            <a:r>
              <a:t>bring these parts together, so planning,</a:t>
            </a:r>
            <a:endParaRPr/>
          </a:p>
          <a:p xmlns:a="http://schemas.openxmlformats.org/drawingml/2006/main">
            <a:r>
              <a:t>generation, and editing work smoothly as</a:t>
            </a:r>
            <a:endParaRPr/>
          </a:p>
          <a:p xmlns:a="http://schemas.openxmlformats.org/drawingml/2006/main">
            <a:r>
              <a:t>one process.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15, prompt page 1/2.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We are also seeing more products built</a:t>
            </a:r>
            <a:endParaRPr/>
          </a:p>
          <a:p xmlns:a="http://schemas.openxmlformats.org/drawingml/2006/main">
            <a:r>
              <a:t>around TTS, from audiobooks to</a:t>
            </a:r>
            <a:endParaRPr/>
          </a:p>
          <a:p xmlns:a="http://schemas.openxmlformats.org/drawingml/2006/main">
            <a:r>
              <a:t>podcasts and short videos. Here are</a:t>
            </a:r>
            <a:endParaRPr/>
          </a:p>
          <a:p xmlns:a="http://schemas.openxmlformats.org/drawingml/2006/main">
            <a:r>
              <a:t>some examples, including audiobooks</a:t>
            </a:r>
            <a:endParaRPr/>
          </a:p>
          <a:p xmlns:a="http://schemas.openxmlformats.org/drawingml/2006/main">
            <a:r>
              <a:t>and CosyCreative. TTS is also well suited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15, prompt page 2/2.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for dubbing films, TV series, short</a:t>
            </a:r>
            <a:endParaRPr/>
          </a:p>
          <a:p xmlns:a="http://schemas.openxmlformats.org/drawingml/2006/main">
            <a:r>
              <a:t>dramas, and other videos. These</a:t>
            </a:r>
            <a:endParaRPr/>
          </a:p>
          <a:p xmlns:a="http://schemas.openxmlformats.org/drawingml/2006/main">
            <a:r>
              <a:t>applications help bring speech</a:t>
            </a:r>
            <a:endParaRPr/>
          </a:p>
          <a:p xmlns:a="http://schemas.openxmlformats.org/drawingml/2006/main">
            <a:r>
              <a:t>generation into everyday content</a:t>
            </a:r>
            <a:endParaRPr/>
          </a:p>
          <a:p xmlns:a="http://schemas.openxmlformats.org/drawingml/2006/main">
            <a:r>
              <a:t>production.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16, prompt page 1/1.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Our third model is Realtime. This is a very</a:t>
            </a:r>
            <a:endParaRPr/>
          </a:p>
          <a:p xmlns:a="http://schemas.openxmlformats.org/drawingml/2006/main">
            <a:r>
              <a:t>important model for us. It is an</a:t>
            </a:r>
            <a:endParaRPr/>
          </a:p>
          <a:p xmlns:a="http://schemas.openxmlformats.org/drawingml/2006/main">
            <a:r>
              <a:t>end-to-end model for voice</a:t>
            </a:r>
            <a:endParaRPr/>
          </a:p>
          <a:p xmlns:a="http://schemas.openxmlformats.org/drawingml/2006/main">
            <a:r>
              <a:t>conversations.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17, prompt page 1/3.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We have upgraded Realtime from</a:t>
            </a:r>
            <a:endParaRPr/>
          </a:p>
          <a:p xmlns:a="http://schemas.openxmlformats.org/drawingml/2006/main">
            <a:r>
              <a:t>Qwen-Audio-3.0 to 3.1.</a:t>
            </a:r>
            <a:endParaRPr/>
          </a:p>
          <a:p xmlns:a="http://schemas.openxmlformats.org/drawingml/2006/main">
            <a:r>
              <a:t>We have improved several key areas:</a:t>
            </a:r>
            <a:endParaRPr/>
          </a:p>
          <a:p xmlns:a="http://schemas.openxmlformats.org/drawingml/2006/main">
            <a:r>
              <a:t>native full-duplex interaction, continuous</a:t>
            </a:r>
            <a:endParaRPr/>
          </a:p>
          <a:p xmlns:a="http://schemas.openxmlformats.org/drawingml/2006/main">
            <a:r>
              <a:t>understanding, more natural speech, and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17, prompt page 2/3.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better audio understanding.</a:t>
            </a:r>
            <a:endParaRPr/>
          </a:p>
          <a:p xmlns:a="http://schemas.openxmlformats.org/drawingml/2006/main">
            <a:r>
              <a:t>We have also strengthened its agentic</a:t>
            </a:r>
            <a:endParaRPr/>
          </a:p>
          <a:p xmlns:a="http://schemas.openxmlformats.org/drawingml/2006/main">
            <a:r>
              <a:t>capabilities. This helps it work with tools</a:t>
            </a:r>
            <a:endParaRPr/>
          </a:p>
          <a:p xmlns:a="http://schemas.openxmlformats.org/drawingml/2006/main">
            <a:r>
              <a:t>and carry out tasks. We have improved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17, prompt page 3/3.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multilingual support and safety as well.</a:t>
            </a:r>
            <a:endParaRPr/>
          </a:p>
          <a:p xmlns:a="http://schemas.openxmlformats.org/drawingml/2006/main">
            <a:r>
              <a:t>With just a simple prompt, users can set</a:t>
            </a:r>
            <a:endParaRPr/>
          </a:p>
          <a:p xmlns:a="http://schemas.openxmlformats.org/drawingml/2006/main">
            <a:r>
              <a:t>up many different types of voice</a:t>
            </a:r>
            <a:endParaRPr/>
          </a:p>
          <a:p xmlns:a="http://schemas.openxmlformats.org/drawingml/2006/main">
            <a:r>
              <a:t>interaction.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18, prompt page 1/1.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When we released</a:t>
            </a:r>
            <a:endParaRPr/>
          </a:p>
          <a:p xmlns:a="http://schemas.openxmlformats.org/drawingml/2006/main">
            <a:r>
              <a:t>Qwen-Audio-3.0-Realtime in July, it</a:t>
            </a:r>
            <a:endParaRPr/>
          </a:p>
          <a:p xmlns:a="http://schemas.openxmlformats.org/drawingml/2006/main">
            <a:r>
              <a:t>performed well on the Artificial Analysis</a:t>
            </a:r>
            <a:endParaRPr/>
          </a:p>
          <a:p xmlns:a="http://schemas.openxmlformats.org/drawingml/2006/main">
            <a:r>
              <a:t>leaderboard. The industry continues to</a:t>
            </a:r>
            <a:endParaRPr/>
          </a:p>
          <a:p xmlns:a="http://schemas.openxmlformats.org/drawingml/2006/main">
            <a:r>
              <a:t>move forward, and we will keep</a:t>
            </a:r>
            <a:endParaRPr/>
          </a:p>
          <a:p xmlns:a="http://schemas.openxmlformats.org/drawingml/2006/main">
            <a:r>
              <a:t>improving our 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19, prompt page 1/3.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We also offer an open-source Harness</a:t>
            </a:r>
            <a:endParaRPr/>
          </a:p>
          <a:p xmlns:a="http://schemas.openxmlformats.org/drawingml/2006/main">
            <a:r>
              <a:t>framework called QwenAudioAgent.</a:t>
            </a:r>
            <a:endParaRPr/>
          </a:p>
          <a:p xmlns:a="http://schemas.openxmlformats.org/drawingml/2006/main">
            <a:r>
              <a:t>The framework has two layers. At the</a:t>
            </a:r>
            <a:endParaRPr/>
          </a:p>
          <a:p xmlns:a="http://schemas.openxmlformats.org/drawingml/2006/main">
            <a:r>
              <a:t>frontend, the Realtime API keeps the</a:t>
            </a:r>
            <a:endParaRPr/>
          </a:p>
          <a:p xmlns:a="http://schemas.openxmlformats.org/drawingml/2006/main">
            <a:r>
              <a:t>conversation natural. In the background,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19, prompt page 2/3.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an agent powered by a standard language</a:t>
            </a:r>
            <a:endParaRPr/>
          </a:p>
          <a:p xmlns:a="http://schemas.openxmlformats.org/drawingml/2006/main">
            <a:r>
              <a:t>model handles tasks.</a:t>
            </a:r>
            <a:endParaRPr/>
          </a:p>
          <a:p xmlns:a="http://schemas.openxmlformats.org/drawingml/2006/main">
            <a:r>
              <a:t>The two work together through</a:t>
            </a:r>
            <a:endParaRPr/>
          </a:p>
          <a:p xmlns:a="http://schemas.openxmlformats.org/drawingml/2006/main">
            <a:r>
              <a:t>agent-to-agent communication. This</a:t>
            </a:r>
            <a:endParaRPr/>
          </a:p>
          <a:p xmlns:a="http://schemas.openxmlformats.org/drawingml/2006/main">
            <a:r>
              <a:t>gives users both natural conversations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19, prompt page 3/3.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and smart task handling.</a:t>
            </a:r>
            <a:endParaRPr/>
          </a:p>
          <a:p xmlns:a="http://schemas.openxmlformats.org/drawingml/2006/main">
            <a:r>
              <a:t>This changes the traditional approach of</a:t>
            </a:r>
            <a:endParaRPr/>
          </a:p>
          <a:p xmlns:a="http://schemas.openxmlformats.org/drawingml/2006/main">
            <a:r>
              <a:t>building all these abilities into one</a:t>
            </a:r>
            <a:endParaRPr/>
          </a:p>
          <a:p xmlns:a="http://schemas.openxmlformats.org/drawingml/2006/main">
            <a:r>
              <a:t>conversation model. It gives users a</a:t>
            </a:r>
            <a:endParaRPr/>
          </a:p>
          <a:p xmlns:a="http://schemas.openxmlformats.org/drawingml/2006/main">
            <a:r>
              <a:t>better and more natural way to interact.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20, prompt page 1/2.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We have already used this framework in</a:t>
            </a:r>
            <a:endParaRPr/>
          </a:p>
          <a:p xmlns:a="http://schemas.openxmlformats.org/drawingml/2006/main">
            <a:r>
              <a:t>many areas, including customer service</a:t>
            </a:r>
            <a:endParaRPr/>
          </a:p>
          <a:p xmlns:a="http://schemas.openxmlformats.org/drawingml/2006/main">
            <a:r>
              <a:t>and smart cockpits.</a:t>
            </a:r>
            <a:endParaRPr/>
          </a:p>
          <a:p xmlns:a="http://schemas.openxmlformats.org/drawingml/2006/main">
            <a:r>
              <a:t>The Voice Agent Harness is used both</a:t>
            </a:r>
            <a:endParaRPr/>
          </a:p>
          <a:p xmlns:a="http://schemas.openxmlformats.org/drawingml/2006/main">
            <a:r>
              <a:t>inside Alibaba and by external teams.</a:t>
            </a:r>
            <a:endParaRPr/>
          </a:p>
          <a:p xmlns:a="http://schemas.openxmlformats.org/drawingml/2006/main">
            <a:r>
              <a:t>Within Alibaba, examples include Voice,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20, prompt page 2/2.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QwenWork, and related hardware</a:t>
            </a:r>
            <a:endParaRPr/>
          </a:p>
          <a:p xmlns:a="http://schemas.openxmlformats.org/drawingml/2006/main">
            <a:r>
              <a:t>products.</a:t>
            </a:r>
            <a:endParaRPr/>
          </a:p>
          <a:p xmlns:a="http://schemas.openxmlformats.org/drawingml/2006/main">
            <a:r>
              <a:t>It also powers many of the voice</a:t>
            </a:r>
            <a:endParaRPr/>
          </a:p>
          <a:p xmlns:a="http://schemas.openxmlformats.org/drawingml/2006/main">
            <a:r>
              <a:t>experiences you have seen at this year’s</a:t>
            </a:r>
            <a:endParaRPr/>
          </a:p>
          <a:p xmlns:a="http://schemas.openxmlformats.org/drawingml/2006/main">
            <a:r>
              <a:t>Apsara Conference.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21, prompt page 1/2.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Here, we show how this assistant can</a:t>
            </a:r>
            <a:endParaRPr/>
          </a:p>
          <a:p xmlns:a="http://schemas.openxmlformats.org/drawingml/2006/main">
            <a:r>
              <a:t>help with everyday tasks. It can help</a:t>
            </a:r>
            <a:endParaRPr/>
          </a:p>
          <a:p xmlns:a="http://schemas.openxmlformats.org/drawingml/2006/main">
            <a:r>
              <a:t>develop a voice assistant, research</a:t>
            </a:r>
            <a:endParaRPr/>
          </a:p>
          <a:p xmlns:a="http://schemas.openxmlformats.org/drawingml/2006/main">
            <a:r>
              <a:t>overseas market opportunities, and turn</a:t>
            </a:r>
            <a:endParaRPr/>
          </a:p>
          <a:p xmlns:a="http://schemas.openxmlformats.org/drawingml/2006/main">
            <a:r>
              <a:t>meeting notes into a video.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21, prompt page 2/2.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With Qwen-Audio-Realtime and the</a:t>
            </a:r>
            <a:endParaRPr/>
          </a:p>
          <a:p xmlns:a="http://schemas.openxmlformats.org/drawingml/2006/main">
            <a:r>
              <a:t>related Harness, we want users to be able</a:t>
            </a:r>
            <a:endParaRPr/>
          </a:p>
          <a:p xmlns:a="http://schemas.openxmlformats.org/drawingml/2006/main">
            <a:r>
              <a:t>to talk to their agents and manage tasks</a:t>
            </a:r>
            <a:endParaRPr/>
          </a:p>
          <a:p xmlns:a="http://schemas.openxmlformats.org/drawingml/2006/main">
            <a:r>
              <a:t>anytime, anywhere.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22, prompt page 1/2.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Finally, we have one more important</a:t>
            </a:r>
            <a:endParaRPr/>
          </a:p>
          <a:p xmlns:a="http://schemas.openxmlformats.org/drawingml/2006/main">
            <a:r>
              <a:t>update.</a:t>
            </a:r>
            <a:endParaRPr/>
          </a:p>
          <a:p xmlns:a="http://schemas.openxmlformats.org/drawingml/2006/main">
            <a:r>
              <a:t>Thanks to our team’s work, we have</a:t>
            </a:r>
            <a:endParaRPr/>
          </a:p>
          <a:p xmlns:a="http://schemas.openxmlformats.org/drawingml/2006/main">
            <a:r>
              <a:t>greatly reduced the overall cost of our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22, prompt page 2/2.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latest APIs. As you can see, prices are</a:t>
            </a:r>
            <a:endParaRPr/>
          </a:p>
          <a:p xmlns:a="http://schemas.openxmlformats.org/drawingml/2006/main">
            <a:r>
              <a:t>much lower across the model lineup</a:t>
            </a:r>
            <a:endParaRPr/>
          </a:p>
          <a:p xmlns:a="http://schemas.openxmlformats.org/drawingml/2006/main">
            <a:r>
              <a:t>compared with the Qwen-Audio-3.0 APIs.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23, prompt page 1/1.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As we keep improving the technology, we</a:t>
            </a:r>
            <a:endParaRPr/>
          </a:p>
          <a:p xmlns:a="http://schemas.openxmlformats.org/drawingml/2006/main">
            <a:r>
              <a:t>hope it can support you in more</a:t>
            </a:r>
            <a:endParaRPr/>
          </a:p>
          <a:p xmlns:a="http://schemas.openxmlformats.org/drawingml/2006/main">
            <a:r>
              <a:t>situations and help with more tasks.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slide 24, prompt page 1/1.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We hope our work will make it easier for</a:t>
            </a:r>
            <a:endParaRPr/>
          </a:p>
          <a:p xmlns:a="http://schemas.openxmlformats.org/drawingml/2006/main">
            <a:r>
              <a:t>you to use more audio technologies.</a:t>
            </a:r>
            <a:endParaRPr/>
          </a:p>
          <a:p xmlns:a="http://schemas.openxmlformats.org/drawingml/2006/main">
            <a:r>
              <a:t>Thank you.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0a0ce40604379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623ac794a34e43" /><Relationship Type="http://schemas.openxmlformats.org/officeDocument/2006/relationships/slideLayout" Target="/ppt/slideLayouts/slideLayout1.xml" Id="Rcce59412288d4cb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8A1E5CA-CF10-41D4-9B64-221DCBA3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" y="822325"/>
            <a:ext cx="248539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00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e59412288d4cb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400">
        <a:lnSpc>
          <a:spcPct val="90000"/>
        </a:lnSpc>
        <a:spcBef>
          <a:spcPts val="1000"/>
        </a:spcBef>
        <a:buFont typeface="Arial"/>
        <a:buNone/>
        <a:defRPr sz="2800" kern="1200">
          <a:solidFill>
            <a:schemeClr val="bg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bg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bg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89009029a4153" /><Relationship Type="http://schemas.openxmlformats.org/officeDocument/2006/relationships/notesSlide" Target="/ppt/notesSlides/notesSlide1.xml" Id="R6d4467875c6c42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83323a78a40f5" /><Relationship Type="http://schemas.openxmlformats.org/officeDocument/2006/relationships/notesSlide" Target="/ppt/notesSlides/notesSlide2.xml" Id="Rfd46d6ce01d7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0c3aebf95483f" /><Relationship Type="http://schemas.openxmlformats.org/officeDocument/2006/relationships/notesSlide" Target="/ppt/notesSlides/notesSlide3.xml" Id="R57ea792d71884c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d2c1b61c840b1" /><Relationship Type="http://schemas.openxmlformats.org/officeDocument/2006/relationships/notesSlide" Target="/ppt/notesSlides/notesSlide4.xml" Id="R38b687e8f08e4e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b9664fe0847a6" /><Relationship Type="http://schemas.openxmlformats.org/officeDocument/2006/relationships/notesSlide" Target="/ppt/notesSlides/notesSlide5.xml" Id="R09b2b768b4fa46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022728dae40a5" /><Relationship Type="http://schemas.openxmlformats.org/officeDocument/2006/relationships/notesSlide" Target="/ppt/notesSlides/notesSlide6.xml" Id="R80199d0c836246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4e6981d084195" /><Relationship Type="http://schemas.openxmlformats.org/officeDocument/2006/relationships/notesSlide" Target="/ppt/notesSlides/notesSlide7.xml" Id="R3586f56b86ee4d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ba7590d58415d" /><Relationship Type="http://schemas.openxmlformats.org/officeDocument/2006/relationships/notesSlide" Target="/ppt/notesSlides/notesSlide8.xml" Id="Rff0848afafa74e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7bf7b5e0f413c" /><Relationship Type="http://schemas.openxmlformats.org/officeDocument/2006/relationships/notesSlide" Target="/ppt/notesSlides/notesSlide9.xml" Id="R8fd0669650cc4c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6640a838e409d" /><Relationship Type="http://schemas.openxmlformats.org/officeDocument/2006/relationships/notesSlide" Target="/ppt/notesSlides/notesSlide10.xml" Id="R262005cc03b549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74c5d72b74297" /><Relationship Type="http://schemas.openxmlformats.org/officeDocument/2006/relationships/notesSlide" Target="/ppt/notesSlides/notesSlide11.xml" Id="R57ada909245b4d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eb446d6164209" /><Relationship Type="http://schemas.openxmlformats.org/officeDocument/2006/relationships/notesSlide" Target="/ppt/notesSlides/notesSlide12.xml" Id="Re25e816556334d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8e6c86ba940dc" /><Relationship Type="http://schemas.openxmlformats.org/officeDocument/2006/relationships/notesSlide" Target="/ppt/notesSlides/notesSlide13.xml" Id="Rb978a304b9d84e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54b5b81d84764" /><Relationship Type="http://schemas.openxmlformats.org/officeDocument/2006/relationships/notesSlide" Target="/ppt/notesSlides/notesSlide14.xml" Id="Rf090b55ba56047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38cc62edd4aba" /><Relationship Type="http://schemas.openxmlformats.org/officeDocument/2006/relationships/notesSlide" Target="/ppt/notesSlides/notesSlide15.xml" Id="R87579023c2cb447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26c3b17c54e1c" /><Relationship Type="http://schemas.openxmlformats.org/officeDocument/2006/relationships/notesSlide" Target="/ppt/notesSlides/notesSlide16.xml" Id="R4afa9dbd60e641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98c1746f348b7" /><Relationship Type="http://schemas.openxmlformats.org/officeDocument/2006/relationships/notesSlide" Target="/ppt/notesSlides/notesSlide17.xml" Id="R6e218df9c2fd46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fa650b38e4485" /><Relationship Type="http://schemas.openxmlformats.org/officeDocument/2006/relationships/notesSlide" Target="/ppt/notesSlides/notesSlide18.xml" Id="Reb2cac2628424a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989110d8f432d" /><Relationship Type="http://schemas.openxmlformats.org/officeDocument/2006/relationships/notesSlide" Target="/ppt/notesSlides/notesSlide19.xml" Id="R0699d39bd10e409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534045c6045b1" /><Relationship Type="http://schemas.openxmlformats.org/officeDocument/2006/relationships/notesSlide" Target="/ppt/notesSlides/notesSlide20.xml" Id="Re27211a7159f42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4ccbd0d854a95" /><Relationship Type="http://schemas.openxmlformats.org/officeDocument/2006/relationships/notesSlide" Target="/ppt/notesSlides/notesSlide21.xml" Id="Rd8e3e95314fc463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509d241b4441a" /><Relationship Type="http://schemas.openxmlformats.org/officeDocument/2006/relationships/notesSlide" Target="/ppt/notesSlides/notesSlide22.xml" Id="R70535c718e4646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822016ac1480d" /><Relationship Type="http://schemas.openxmlformats.org/officeDocument/2006/relationships/notesSlide" Target="/ppt/notesSlides/notesSlide23.xml" Id="R99301b08ec734db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9bcaffe0543a4" /><Relationship Type="http://schemas.openxmlformats.org/officeDocument/2006/relationships/notesSlide" Target="/ppt/notesSlides/notesSlide24.xml" Id="Ree1ae9335ae940a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821c899a344ab" /><Relationship Type="http://schemas.openxmlformats.org/officeDocument/2006/relationships/notesSlide" Target="/ppt/notesSlides/notesSlide25.xml" Id="R1b74c31bd3194e1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4381879f04720" /><Relationship Type="http://schemas.openxmlformats.org/officeDocument/2006/relationships/notesSlide" Target="/ppt/notesSlides/notesSlide26.xml" Id="Rb01a83725759496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9afa967a243b8" /><Relationship Type="http://schemas.openxmlformats.org/officeDocument/2006/relationships/notesSlide" Target="/ppt/notesSlides/notesSlide27.xml" Id="R633bfbb6ea78470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3cd00719c48cd" /><Relationship Type="http://schemas.openxmlformats.org/officeDocument/2006/relationships/notesSlide" Target="/ppt/notesSlides/notesSlide28.xml" Id="R9b56fb88f1144fc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62a3088d749e0" /><Relationship Type="http://schemas.openxmlformats.org/officeDocument/2006/relationships/notesSlide" Target="/ppt/notesSlides/notesSlide29.xml" Id="Ra630c2629331430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574a174334f0b" /><Relationship Type="http://schemas.openxmlformats.org/officeDocument/2006/relationships/notesSlide" Target="/ppt/notesSlides/notesSlide30.xml" Id="R0fce2430d22247b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ba2f095544d6c" /><Relationship Type="http://schemas.openxmlformats.org/officeDocument/2006/relationships/notesSlide" Target="/ppt/notesSlides/notesSlide31.xml" Id="Raa1b7c7a552940a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46751ed96421a" /><Relationship Type="http://schemas.openxmlformats.org/officeDocument/2006/relationships/notesSlide" Target="/ppt/notesSlides/notesSlide32.xml" Id="R3ad0d8ef91b84e5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fad47c3f44cf4" /><Relationship Type="http://schemas.openxmlformats.org/officeDocument/2006/relationships/notesSlide" Target="/ppt/notesSlides/notesSlide33.xml" Id="R1462b45decfa4b0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63a6d14444af0" /><Relationship Type="http://schemas.openxmlformats.org/officeDocument/2006/relationships/notesSlide" Target="/ppt/notesSlides/notesSlide34.xml" Id="R04e7bf000acc42b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13bd0d3d54a9f" /><Relationship Type="http://schemas.openxmlformats.org/officeDocument/2006/relationships/notesSlide" Target="/ppt/notesSlides/notesSlide35.xml" Id="R51641309759a40e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0a518f1994c1c" /><Relationship Type="http://schemas.openxmlformats.org/officeDocument/2006/relationships/notesSlide" Target="/ppt/notesSlides/notesSlide36.xml" Id="R3be5b75de4694f3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bdbba8dd0457f" /><Relationship Type="http://schemas.openxmlformats.org/officeDocument/2006/relationships/notesSlide" Target="/ppt/notesSlides/notesSlide37.xml" Id="R96d81a015a37498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3f24403c7447a" /><Relationship Type="http://schemas.openxmlformats.org/officeDocument/2006/relationships/notesSlide" Target="/ppt/notesSlides/notesSlide38.xml" Id="Rf240eece8c4f4b5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705b536464b2c" /><Relationship Type="http://schemas.openxmlformats.org/officeDocument/2006/relationships/notesSlide" Target="/ppt/notesSlides/notesSlide39.xml" Id="Rcff6d191341d4f7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55b50109f4a46" /><Relationship Type="http://schemas.openxmlformats.org/officeDocument/2006/relationships/notesSlide" Target="/ppt/notesSlides/notesSlide40.xml" Id="R213573896bf5485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c7eaef55f4f99" /><Relationship Type="http://schemas.openxmlformats.org/officeDocument/2006/relationships/notesSlide" Target="/ppt/notesSlides/notesSlide41.xml" Id="Rd2a0b114821f425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c568d96e4490c" /><Relationship Type="http://schemas.openxmlformats.org/officeDocument/2006/relationships/notesSlide" Target="/ppt/notesSlides/notesSlide42.xml" Id="R9442d399f2c64fb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23438f75f413a" /><Relationship Type="http://schemas.openxmlformats.org/officeDocument/2006/relationships/notesSlide" Target="/ppt/notesSlides/notesSlide43.xml" Id="R5c11cdf7658c4e8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c90db70974f47" /><Relationship Type="http://schemas.openxmlformats.org/officeDocument/2006/relationships/notesSlide" Target="/ppt/notesSlides/notesSlide44.xml" Id="R1aa318e6e47a405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fe15b7ffa43b4" /><Relationship Type="http://schemas.openxmlformats.org/officeDocument/2006/relationships/notesSlide" Target="/ppt/notesSlides/notesSlide45.xml" Id="R340b79dc253846d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d5eb424024064" /><Relationship Type="http://schemas.openxmlformats.org/officeDocument/2006/relationships/notesSlide" Target="/ppt/notesSlides/notesSlide46.xml" Id="R80c5f61fcaad422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b71f90d904791" /><Relationship Type="http://schemas.openxmlformats.org/officeDocument/2006/relationships/notesSlide" Target="/ppt/notesSlides/notesSlide47.xml" Id="Rae5b87c5637945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P1-1/1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 1/1">
            <a:extLst xmlns:a="http://schemas.openxmlformats.org/drawingml/2006/main">
              <a:ext uri="{FF2B5EF4-FFF2-40B4-BE49-F238E27FC236}">
                <a16:creationId xmlns:a16="http://schemas.microsoft.com/office/drawing/2014/main" id="{4B0FDA48-2782-4338-A1BD-462E29CC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Good afternoon, everyone. I’m very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happy to be here today to share our latest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P2-1/3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2 1/3">
            <a:extLst xmlns:a="http://schemas.openxmlformats.org/drawingml/2006/main">
              <a:ext uri="{FF2B5EF4-FFF2-40B4-BE49-F238E27FC236}">
                <a16:creationId xmlns:a16="http://schemas.microsoft.com/office/drawing/2014/main" id="{98C45B7B-B2F6-47B6-86A7-532941B7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Speech foundation models have become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powerful in recent years. They are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also improving faster than ever. Since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2024, we have seen more and more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 in speech technology across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P2-2/3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2 2/3">
            <a:extLst xmlns:a="http://schemas.openxmlformats.org/drawingml/2006/main">
              <a:ext uri="{FF2B5EF4-FFF2-40B4-BE49-F238E27FC236}">
                <a16:creationId xmlns:a16="http://schemas.microsoft.com/office/drawing/2014/main" id="{F9F022A8-C8E1-41F5-8163-57A1E576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industry. We have also continued to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release new models and contribute to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these changes.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Today, we are introducing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Qwen-Audio-3.1. We have upgraded all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P2-3/3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2 3/3">
            <a:extLst xmlns:a="http://schemas.openxmlformats.org/drawingml/2006/main">
              <a:ext uri="{FF2B5EF4-FFF2-40B4-BE49-F238E27FC236}">
                <a16:creationId xmlns:a16="http://schemas.microsoft.com/office/drawing/2014/main" id="{7A63C903-90D7-4F15-A5DB-BB68457E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model families. ASR takes us from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transcription to understanding. TTS takes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 from text to full soundscape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generation. And Realtime brings us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full-duplex voice conversations.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P3-1/1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3 1/1">
            <a:extLst xmlns:a="http://schemas.openxmlformats.org/drawingml/2006/main">
              <a:ext uri="{FF2B5EF4-FFF2-40B4-BE49-F238E27FC236}">
                <a16:creationId xmlns:a16="http://schemas.microsoft.com/office/drawing/2014/main" id="{41E26D6A-B311-4690-BC44-35AA01E7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Let’s start with ASR.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P4-1/2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4 1/2">
            <a:extLst xmlns:a="http://schemas.openxmlformats.org/drawingml/2006/main">
              <a:ext uri="{FF2B5EF4-FFF2-40B4-BE49-F238E27FC236}">
                <a16:creationId xmlns:a16="http://schemas.microsoft.com/office/drawing/2014/main" id="{59932D20-DF9A-45FF-A81A-7DD33A61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a unified audio understanding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architecture, we have improved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transcription accuracy. The model can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also identify different speakers and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P4-2/2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4 2/2">
            <a:extLst xmlns:a="http://schemas.openxmlformats.org/drawingml/2006/main">
              <a:ext uri="{FF2B5EF4-FFF2-40B4-BE49-F238E27FC236}">
                <a16:creationId xmlns:a16="http://schemas.microsoft.com/office/drawing/2014/main" id="{63668FCD-6F2D-44F1-A8C0-A893B66D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organize the transcript by speaker. The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model can locate sound events in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audio and answer questions about what 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hears.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P5-1/4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5 1/4">
            <a:extLst xmlns:a="http://schemas.openxmlformats.org/drawingml/2006/main">
              <a:ext uri="{FF2B5EF4-FFF2-40B4-BE49-F238E27FC236}">
                <a16:creationId xmlns:a16="http://schemas.microsoft.com/office/drawing/2014/main" id="{A1616FD6-6800-41E3-AD0C-7C86B61A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[Play the first audio]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First, Audio Caption describes the scene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the main sounds, such as chewing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crunching.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P5-2/4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5 2/4">
            <a:extLst xmlns:a="http://schemas.openxmlformats.org/drawingml/2006/main">
              <a:ext uri="{FF2B5EF4-FFF2-40B4-BE49-F238E27FC236}">
                <a16:creationId xmlns:a16="http://schemas.microsoft.com/office/drawing/2014/main" id="{E6623E5E-C90A-49D5-B429-C5947187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[Play the second audio]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Second, Audio Grounding finds when 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sound event happens in the audio.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P5-3/4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5 3/4">
            <a:extLst xmlns:a="http://schemas.openxmlformats.org/drawingml/2006/main">
              <a:ext uri="{FF2B5EF4-FFF2-40B4-BE49-F238E27FC236}">
                <a16:creationId xmlns:a16="http://schemas.microsoft.com/office/drawing/2014/main" id="{9E035132-F4A2-4C67-A7AD-92523703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[Play the third audio]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Third, Audio QA answers questions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about the audio. Here, the model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identifies two different motor speeds after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inhalation sound.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P5-4/4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5 4/4">
            <a:extLst xmlns:a="http://schemas.openxmlformats.org/drawingml/2006/main">
              <a:ext uri="{FF2B5EF4-FFF2-40B4-BE49-F238E27FC236}">
                <a16:creationId xmlns:a16="http://schemas.microsoft.com/office/drawing/2014/main" id="{5268782C-472F-4550-B570-013DAC08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These examples show how the model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moves from recognizing speech to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understanding sound events, their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timing, and the relationships between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them.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P6-1/3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6 1/3">
            <a:extLst xmlns:a="http://schemas.openxmlformats.org/drawingml/2006/main">
              <a:ext uri="{FF2B5EF4-FFF2-40B4-BE49-F238E27FC236}">
                <a16:creationId xmlns:a16="http://schemas.microsoft.com/office/drawing/2014/main" id="{BE663E0C-9305-496E-B952-6D0009C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Here, we use a real conversation at 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coffee shop to show how it works.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new ASR model aims to write down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exactly what people say. It also adds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punctuation, without missing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P6-2/3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6 2/3">
            <a:extLst xmlns:a="http://schemas.openxmlformats.org/drawingml/2006/main">
              <a:ext uri="{FF2B5EF4-FFF2-40B4-BE49-F238E27FC236}">
                <a16:creationId xmlns:a16="http://schemas.microsoft.com/office/drawing/2014/main" id="{9F2831B0-12C1-4C94-A427-13E4D2DA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periods or commas. It can answer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that bring together information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different speakers and different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points in the conversation.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new model handles many challenges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P6-3/3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6 3/3">
            <a:extLst xmlns:a="http://schemas.openxmlformats.org/drawingml/2006/main">
              <a:ext uri="{FF2B5EF4-FFF2-40B4-BE49-F238E27FC236}">
                <a16:creationId xmlns:a16="http://schemas.microsoft.com/office/drawing/2014/main" id="{C3FA101D-FDA1-4CD7-B895-A61915F1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real-world use. These include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identifying speakers, making better use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 hotwords, and supporting more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dialects.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P7-1/1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7 1/1">
            <a:extLst xmlns:a="http://schemas.openxmlformats.org/drawingml/2006/main">
              <a:ext uri="{FF2B5EF4-FFF2-40B4-BE49-F238E27FC236}">
                <a16:creationId xmlns:a16="http://schemas.microsoft.com/office/drawing/2014/main" id="{468BBAE0-6B95-43C9-BD3F-E4E435A0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These are the main capabilities of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Qwen-Audio-3.1-ASR. Now let’s look at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it performs. The results on these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major benchmarks show that our model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remains among the leading ASR models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the industry.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P8-1/2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8 1/2">
            <a:extLst xmlns:a="http://schemas.openxmlformats.org/drawingml/2006/main">
              <a:ext uri="{FF2B5EF4-FFF2-40B4-BE49-F238E27FC236}">
                <a16:creationId xmlns:a16="http://schemas.microsoft.com/office/drawing/2014/main" id="{56DAEA41-C218-4A71-9A20-6F89B547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 make a good ASR model work well in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practice, we also need a supporting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framework, or Harness. Here is an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recognition, we need to split the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P8-2/2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8 2/2">
            <a:extLst xmlns:a="http://schemas.openxmlformats.org/drawingml/2006/main">
              <a:ext uri="{FF2B5EF4-FFF2-40B4-BE49-F238E27FC236}">
                <a16:creationId xmlns:a16="http://schemas.microsoft.com/office/drawing/2014/main" id="{F649477E-C86D-4278-B4C5-BA83FEC8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audio into segments. We may also need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 collect relevant context and hotwords.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After recognition, we may need to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the results further. These steps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help users get the most out of the model.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P9-1/2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9 1/2">
            <a:extLst xmlns:a="http://schemas.openxmlformats.org/drawingml/2006/main">
              <a:ext uri="{FF2B5EF4-FFF2-40B4-BE49-F238E27FC236}">
                <a16:creationId xmlns:a16="http://schemas.microsoft.com/office/drawing/2014/main" id="{C2D807F4-E87E-4E99-B2BB-03B14EE8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ASR has many practical uses. It helps us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 information from everyday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conversations. This gives AI models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useful context for later tasks.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Here are two examples. The first is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P9-2/2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9 2/2">
            <a:extLst xmlns:a="http://schemas.openxmlformats.org/drawingml/2006/main">
              <a:ext uri="{FF2B5EF4-FFF2-40B4-BE49-F238E27FC236}">
                <a16:creationId xmlns:a16="http://schemas.microsoft.com/office/drawing/2014/main" id="{C8E85485-E450-4604-B063-C8567D1E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meeting notes, with products such as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Talk and the recently released QwenNote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A2 device. The second is voice input,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including DingTalk voice IME and Qwen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IME.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P10-1/2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0 1/2">
            <a:extLst xmlns:a="http://schemas.openxmlformats.org/drawingml/2006/main">
              <a:ext uri="{FF2B5EF4-FFF2-40B4-BE49-F238E27FC236}">
                <a16:creationId xmlns:a16="http://schemas.microsoft.com/office/drawing/2014/main" id="{3C79A8B3-432C-4B28-85D7-35D54949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input has now moved beyond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simply turning speech into text. Users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want to speak naturally and get a clear,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well-organized piece of writing.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 the technology becomes easier to use,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P10-2/2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0 2/2">
            <a:extLst xmlns:a="http://schemas.openxmlformats.org/drawingml/2006/main">
              <a:ext uri="{FF2B5EF4-FFF2-40B4-BE49-F238E27FC236}">
                <a16:creationId xmlns:a16="http://schemas.microsoft.com/office/drawing/2014/main" id="{2137DCBB-7D10-43E9-B6D2-DD2940FB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people are choosing to use it. We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have seen strong growth in organic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usage of DingTalk IME, Qwen IME, and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DingTalk as a whole.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P11-1/1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1 1/1">
            <a:extLst xmlns:a="http://schemas.openxmlformats.org/drawingml/2006/main">
              <a:ext uri="{FF2B5EF4-FFF2-40B4-BE49-F238E27FC236}">
                <a16:creationId xmlns:a16="http://schemas.microsoft.com/office/drawing/2014/main" id="{2BF82EDF-7653-47D8-AF84-22CDA286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is our second model: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Qwen-Audio-3.1-TTS.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P12-1/2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2 1/2">
            <a:extLst xmlns:a="http://schemas.openxmlformats.org/drawingml/2006/main">
              <a:ext uri="{FF2B5EF4-FFF2-40B4-BE49-F238E27FC236}">
                <a16:creationId xmlns:a16="http://schemas.microsoft.com/office/drawing/2014/main" id="{9318E7D8-5E9D-483F-B17B-B0ADC895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Our latest TTS model supports more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dialects, more fine-grained speech labels,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more voices. We have also improved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output quality.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Here, we show welcome messages in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several languages and dialects, including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P12-2/2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2 2/2">
            <a:extLst xmlns:a="http://schemas.openxmlformats.org/drawingml/2006/main">
              <a:ext uri="{FF2B5EF4-FFF2-40B4-BE49-F238E27FC236}">
                <a16:creationId xmlns:a16="http://schemas.microsoft.com/office/drawing/2014/main" id="{9EC1297A-CD81-4AEB-8B84-64F89EF7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Mandarin, Cantonese, English, and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Japanese.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believe the next step for TTS goes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beyond speech. It is about generating 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soundscape.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P13-1/1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3 1/1">
            <a:extLst xmlns:a="http://schemas.openxmlformats.org/drawingml/2006/main">
              <a:ext uri="{FF2B5EF4-FFF2-40B4-BE49-F238E27FC236}">
                <a16:creationId xmlns:a16="http://schemas.microsoft.com/office/drawing/2014/main" id="{B1E1E782-0B11-4E65-A794-D150BCAD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have also recently evaluated our TTS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model. It ranks among the top models 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both Hugging Face TTS Arena and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Artificial Analysis TTS Arena. On Hugging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Face, the model listed as Aurora is our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Qwen-Audio-3.1-TTS.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P14-1/4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4 1/4">
            <a:extLst xmlns:a="http://schemas.openxmlformats.org/drawingml/2006/main">
              <a:ext uri="{FF2B5EF4-FFF2-40B4-BE49-F238E27FC236}">
                <a16:creationId xmlns:a16="http://schemas.microsoft.com/office/drawing/2014/main" id="{01CC5A5B-AFA7-4F71-BB58-BF4B1F7C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Like ASR, TTS also needs a Harness for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real-world use. This framework has three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layers.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 the top, users create audio from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articles, books, podcasts, or videos. They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P14-2/4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4 2/4">
            <a:extLst xmlns:a="http://schemas.openxmlformats.org/drawingml/2006/main">
              <a:ext uri="{FF2B5EF4-FFF2-40B4-BE49-F238E27FC236}">
                <a16:creationId xmlns:a16="http://schemas.microsoft.com/office/drawing/2014/main" id="{585F5C8E-EF99-41F3-8DFB-CB65537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listen to the results and ask for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changes. In the middle, the Harness plans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each segment, including the speaker,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pronunciation, and timing. It also tracks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audio and versions. At the bottom,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P14-3/4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4 3/4">
            <a:extLst xmlns:a="http://schemas.openxmlformats.org/drawingml/2006/main">
              <a:ext uri="{FF2B5EF4-FFF2-40B4-BE49-F238E27FC236}">
                <a16:creationId xmlns:a16="http://schemas.microsoft.com/office/drawing/2014/main" id="{14A3B36D-F58D-40D0-A37B-E666281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models and tools handle speech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generation, recognition, translation, and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audio editing.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users request a change, the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framework updates the affected segments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P14-4/4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4 4/4">
            <a:extLst xmlns:a="http://schemas.openxmlformats.org/drawingml/2006/main">
              <a:ext uri="{FF2B5EF4-FFF2-40B4-BE49-F238E27FC236}">
                <a16:creationId xmlns:a16="http://schemas.microsoft.com/office/drawing/2014/main" id="{C23E2C37-699D-4C7D-BBA0-0FACF60B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reuses the rest. We are continuing to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bring these parts together, so planning,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generation, and editing work smoothly as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process.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P15-1/2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5 1/2">
            <a:extLst xmlns:a="http://schemas.openxmlformats.org/drawingml/2006/main">
              <a:ext uri="{FF2B5EF4-FFF2-40B4-BE49-F238E27FC236}">
                <a16:creationId xmlns:a16="http://schemas.microsoft.com/office/drawing/2014/main" id="{498A193C-F840-4D46-BEFD-60E82B1B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are also seeing more products built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around TTS, from audiobooks to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podcasts and short videos. Here are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some examples, including audiobooks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CosyCreative. TTS is also well suited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P15-2/2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5 2/2">
            <a:extLst xmlns:a="http://schemas.openxmlformats.org/drawingml/2006/main">
              <a:ext uri="{FF2B5EF4-FFF2-40B4-BE49-F238E27FC236}">
                <a16:creationId xmlns:a16="http://schemas.microsoft.com/office/drawing/2014/main" id="{271F7BC6-00C8-4D18-A2CF-9FDF0DE1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dubbing films, TV series, short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dramas, and other videos. These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applications help bring speech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generation into everyday content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production.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P16-1/1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6 1/1">
            <a:extLst xmlns:a="http://schemas.openxmlformats.org/drawingml/2006/main">
              <a:ext uri="{FF2B5EF4-FFF2-40B4-BE49-F238E27FC236}">
                <a16:creationId xmlns:a16="http://schemas.microsoft.com/office/drawing/2014/main" id="{80434B15-7474-44E6-BD7A-E47EA400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Our third model is Realtime. This is a very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important model for us. It is an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end-to-end model for voice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conversations.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P17-1/3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7 1/3">
            <a:extLst xmlns:a="http://schemas.openxmlformats.org/drawingml/2006/main">
              <a:ext uri="{FF2B5EF4-FFF2-40B4-BE49-F238E27FC236}">
                <a16:creationId xmlns:a16="http://schemas.microsoft.com/office/drawing/2014/main" id="{E5DF0B28-D755-47C1-8064-19F69BFC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have upgraded Realtime from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Qwen-Audio-3.0 to 3.1.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have improved several key areas: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native full-duplex interaction, continuous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understanding, more natural speech, and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P17-2/3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7 2/3">
            <a:extLst xmlns:a="http://schemas.openxmlformats.org/drawingml/2006/main">
              <a:ext uri="{FF2B5EF4-FFF2-40B4-BE49-F238E27FC236}">
                <a16:creationId xmlns:a16="http://schemas.microsoft.com/office/drawing/2014/main" id="{5523B331-0D32-4066-8676-EDC19B46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better audio understanding.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have also strengthened its agentic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capabilities. This helps it work with tools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carry out tasks. We have improved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P17-3/3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7 3/3">
            <a:extLst xmlns:a="http://schemas.openxmlformats.org/drawingml/2006/main">
              <a:ext uri="{FF2B5EF4-FFF2-40B4-BE49-F238E27FC236}">
                <a16:creationId xmlns:a16="http://schemas.microsoft.com/office/drawing/2014/main" id="{4F9A2903-54E6-412D-852C-280FFE40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multilingual support and safety as well.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just a simple prompt, users can set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 many different types of voice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interaction.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P18-1/1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8 1/1">
            <a:extLst xmlns:a="http://schemas.openxmlformats.org/drawingml/2006/main">
              <a:ext uri="{FF2B5EF4-FFF2-40B4-BE49-F238E27FC236}">
                <a16:creationId xmlns:a16="http://schemas.microsoft.com/office/drawing/2014/main" id="{55FBF211-33A5-48EE-9EC1-0C4FE746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we released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Qwen-Audio-3.0-Realtime in July, 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performed well on the Artificial Analysis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leaderboard. The industry continues to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forward, and we will keep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improving our models.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P19-1/3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9 1/3">
            <a:extLst xmlns:a="http://schemas.openxmlformats.org/drawingml/2006/main">
              <a:ext uri="{FF2B5EF4-FFF2-40B4-BE49-F238E27FC236}">
                <a16:creationId xmlns:a16="http://schemas.microsoft.com/office/drawing/2014/main" id="{B471BFCB-0929-4B5C-854B-8280B0AA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also offer an open-source Harness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framework called QwenAudioAgent.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framework has two layers. At the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frontend, the Realtime API keeps the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conversation natural. In the background,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P19-2/3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9 2/3">
            <a:extLst xmlns:a="http://schemas.openxmlformats.org/drawingml/2006/main">
              <a:ext uri="{FF2B5EF4-FFF2-40B4-BE49-F238E27FC236}">
                <a16:creationId xmlns:a16="http://schemas.microsoft.com/office/drawing/2014/main" id="{1C3AB40F-52D1-4CF1-AA21-069DCB81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agent powered by a standard language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handles tasks.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two work together through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agent-to-agent communication. This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gives users both natural conversations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P19-3/3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19 3/3">
            <a:extLst xmlns:a="http://schemas.openxmlformats.org/drawingml/2006/main">
              <a:ext uri="{FF2B5EF4-FFF2-40B4-BE49-F238E27FC236}">
                <a16:creationId xmlns:a16="http://schemas.microsoft.com/office/drawing/2014/main" id="{B0990B22-B973-4B43-A03A-C924AB99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smart task handling.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changes the traditional approach of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building all these abilities into one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conversation model. It gives users 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better and more natural way to interact.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P20-1/2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20 1/2">
            <a:extLst xmlns:a="http://schemas.openxmlformats.org/drawingml/2006/main">
              <a:ext uri="{FF2B5EF4-FFF2-40B4-BE49-F238E27FC236}">
                <a16:creationId xmlns:a16="http://schemas.microsoft.com/office/drawing/2014/main" id="{54E8E518-BCD8-48A5-BE2B-E9605D5F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have already used this framework in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many areas, including customer service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smart cockpits.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Voice Agent Harness is used both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inside Alibaba and by external teams.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Within Alibaba, examples include Voice,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P20-2/2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20 2/2">
            <a:extLst xmlns:a="http://schemas.openxmlformats.org/drawingml/2006/main">
              <a:ext uri="{FF2B5EF4-FFF2-40B4-BE49-F238E27FC236}">
                <a16:creationId xmlns:a16="http://schemas.microsoft.com/office/drawing/2014/main" id="{A9638CAA-5662-4C6B-910C-A0D79215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QwenWork, and related hardware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 also powers many of the voice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experiences you have seen at this year’s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Apsara Conference.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P21-1/2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21 1/2">
            <a:extLst xmlns:a="http://schemas.openxmlformats.org/drawingml/2006/main">
              <a:ext uri="{FF2B5EF4-FFF2-40B4-BE49-F238E27FC236}">
                <a16:creationId xmlns:a16="http://schemas.microsoft.com/office/drawing/2014/main" id="{0EA3B436-6B09-4D6F-AFBD-46BB4080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Here, we show how this assistant can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help with everyday tasks. It can help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develop a voice assistant, research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overseas market opportunities, and turn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meeting notes into a video.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P21-2/2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21 2/2">
            <a:extLst xmlns:a="http://schemas.openxmlformats.org/drawingml/2006/main">
              <a:ext uri="{FF2B5EF4-FFF2-40B4-BE49-F238E27FC236}">
                <a16:creationId xmlns:a16="http://schemas.microsoft.com/office/drawing/2014/main" id="{BF64DA41-56D5-46E5-BAEB-F6E137E0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Qwen-Audio-Realtime and the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related Harness, we want users to be able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 talk to their agents and manage tasks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anytime, anywhere.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P22-1/2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22 1/2">
            <a:extLst xmlns:a="http://schemas.openxmlformats.org/drawingml/2006/main">
              <a:ext uri="{FF2B5EF4-FFF2-40B4-BE49-F238E27FC236}">
                <a16:creationId xmlns:a16="http://schemas.microsoft.com/office/drawing/2014/main" id="{85DFB488-1346-43BE-AD03-D28151FC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Finally, we have one more important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Thanks to our team’s work, we have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greatly reduced the overall cost of our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P22-2/2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22 2/2">
            <a:extLst xmlns:a="http://schemas.openxmlformats.org/drawingml/2006/main">
              <a:ext uri="{FF2B5EF4-FFF2-40B4-BE49-F238E27FC236}">
                <a16:creationId xmlns:a16="http://schemas.microsoft.com/office/drawing/2014/main" id="{AE8AF9C1-FC0E-4EB8-9117-C22E8063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latest APIs. As you can see, prices are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much lower across the model lineup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compared with the Qwen-Audio-3.0 APIs.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P23-1/1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23 1/1">
            <a:extLst xmlns:a="http://schemas.openxmlformats.org/drawingml/2006/main">
              <a:ext uri="{FF2B5EF4-FFF2-40B4-BE49-F238E27FC236}">
                <a16:creationId xmlns:a16="http://schemas.microsoft.com/office/drawing/2014/main" id="{C7DC78B0-EE6A-459B-9BF0-118B48CB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 we keep improving the technology, we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hope it can support you in more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situations and help with more tasks.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58782"/>
            <a:ext cx="55245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KN P24-1/1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877" y="0"/>
            <a:ext cx="2450123" cy="10316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2" y="112327"/>
            <a:ext cx="2241892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>
                <a:solidFill>
                  <a:schemeClr val="bg1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6" name="Script P24 1/1">
            <a:extLst xmlns:a="http://schemas.openxmlformats.org/drawingml/2006/main">
              <a:ext uri="{FF2B5EF4-FFF2-40B4-BE49-F238E27FC236}">
                <a16:creationId xmlns:a16="http://schemas.microsoft.com/office/drawing/2014/main" id="{0FE0E8A5-0BEA-47DC-9428-F01F4D8D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" y="1104900"/>
            <a:ext cx="1182243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hope our work will make it easier for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to use more audio technologies.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2026-10-26T10:12:28.0700000Z</dcterms:created>
  <dcterms:modified xsi:type="dcterms:W3CDTF">2026-10-26T10:12:28.0700000Z</dcterms:modified>
</coreProperties>
</file>